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76" r:id="rId2"/>
    <p:sldMasterId id="2147483703" r:id="rId3"/>
  </p:sldMasterIdLst>
  <p:sldIdLst>
    <p:sldId id="850" r:id="rId4"/>
    <p:sldId id="851" r:id="rId5"/>
    <p:sldId id="852" r:id="rId6"/>
    <p:sldId id="853" r:id="rId7"/>
    <p:sldId id="854" r:id="rId8"/>
    <p:sldId id="855" r:id="rId9"/>
    <p:sldId id="856" r:id="rId10"/>
    <p:sldId id="857" r:id="rId11"/>
    <p:sldId id="858" r:id="rId12"/>
    <p:sldId id="859" r:id="rId13"/>
    <p:sldId id="860" r:id="rId14"/>
    <p:sldId id="861" r:id="rId15"/>
    <p:sldId id="862" r:id="rId16"/>
    <p:sldId id="863" r:id="rId17"/>
    <p:sldId id="864" r:id="rId18"/>
    <p:sldId id="865" r:id="rId19"/>
    <p:sldId id="866" r:id="rId20"/>
    <p:sldId id="867" r:id="rId21"/>
    <p:sldId id="868" r:id="rId22"/>
    <p:sldId id="869" r:id="rId23"/>
    <p:sldId id="870" r:id="rId24"/>
    <p:sldId id="871" r:id="rId25"/>
    <p:sldId id="872" r:id="rId26"/>
    <p:sldId id="768" r:id="rId27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065115E1-A6D4-4718-B51F-4C2031023C4A}"/>
    <pc:docChg chg="custSel modSld">
      <pc:chgData name="Cesar Augusto Lopez Gallego" userId="0dfa9112-9251-4882-b472-cf2dfcee09d1" providerId="ADAL" clId="{065115E1-A6D4-4718-B51F-4C2031023C4A}" dt="2026-10-13T13:21:54.337" v="11"/>
      <pc:docMkLst>
        <pc:docMk/>
      </pc:docMkLst>
      <pc:sldChg chg="modSp mod">
        <pc:chgData name="Cesar Augusto Lopez Gallego" userId="0dfa9112-9251-4882-b472-cf2dfcee09d1" providerId="ADAL" clId="{065115E1-A6D4-4718-B51F-4C2031023C4A}" dt="2026-10-13T13:21:31.856" v="8" actId="20577"/>
        <pc:sldMkLst>
          <pc:docMk/>
          <pc:sldMk cId="0" sldId="851"/>
        </pc:sldMkLst>
        <pc:spChg chg="mod">
          <ac:chgData name="Cesar Augusto Lopez Gallego" userId="0dfa9112-9251-4882-b472-cf2dfcee09d1" providerId="ADAL" clId="{065115E1-A6D4-4718-B51F-4C2031023C4A}" dt="2026-10-13T13:21:31.856" v="8" actId="20577"/>
          <ac:spMkLst>
            <pc:docMk/>
            <pc:sldMk cId="0" sldId="851"/>
            <ac:spMk id="3" creationId="{00000000-0000-0000-0000-000000000000}"/>
          </ac:spMkLst>
        </pc:spChg>
      </pc:sldChg>
      <pc:sldChg chg="modSp mod">
        <pc:chgData name="Cesar Augusto Lopez Gallego" userId="0dfa9112-9251-4882-b472-cf2dfcee09d1" providerId="ADAL" clId="{065115E1-A6D4-4718-B51F-4C2031023C4A}" dt="2026-10-13T13:21:54.337" v="11"/>
        <pc:sldMkLst>
          <pc:docMk/>
          <pc:sldMk cId="0" sldId="852"/>
        </pc:sldMkLst>
        <pc:spChg chg="mod">
          <ac:chgData name="Cesar Augusto Lopez Gallego" userId="0dfa9112-9251-4882-b472-cf2dfcee09d1" providerId="ADAL" clId="{065115E1-A6D4-4718-B51F-4C2031023C4A}" dt="2026-10-13T13:21:54.337" v="11"/>
          <ac:spMkLst>
            <pc:docMk/>
            <pc:sldMk cId="0" sldId="85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8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1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96E66B-05E0-5444-8A9C-D3EB1F16D4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2EAC24B-8E5A-8243-AE31-3EF52762FF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Medellín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7076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902D8C-5974-7645-9CED-F972FEE3FD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5" name="Marcador de texto 6">
            <a:extLst>
              <a:ext uri="{FF2B5EF4-FFF2-40B4-BE49-F238E27FC236}">
                <a16:creationId xmlns:a16="http://schemas.microsoft.com/office/drawing/2014/main" id="{8716CF4F-DD12-CE44-9367-00355C6C1C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Bucaramanga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3087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415E9DB-A2B7-C448-82DB-70C3AF6F1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4673C5EA-B31B-AF44-864D-09A9EB6DC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Montería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9046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ACD3065D-D187-F24F-802B-82D917750B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328" y="4620899"/>
            <a:ext cx="4913779" cy="1087990"/>
          </a:xfrm>
        </p:spPr>
        <p:txBody>
          <a:bodyPr>
            <a:noAutofit/>
          </a:bodyPr>
          <a:lstStyle>
            <a:lvl1pPr marL="0" indent="0">
              <a:buNone/>
              <a:defRPr sz="353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A2D5DE44-AD08-DB48-B4DE-6FC84952E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328" y="5806304"/>
            <a:ext cx="4913779" cy="62332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Palmira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3247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F73B532-45B4-2C46-A8D5-63C80078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05" y="1203891"/>
            <a:ext cx="9559128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CB2CCC8-6A51-0448-B720-4D06071CFD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005" y="2896721"/>
            <a:ext cx="9559127" cy="2384051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7582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3F491-1BDC-0443-9398-BE5406EA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5" y="1203891"/>
            <a:ext cx="11262311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058790-96AD-CA4D-A66F-9786E6AA40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909328"/>
            <a:ext cx="6042772" cy="32034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DDFD31F-1FED-CC47-939B-20E7A96EE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74504" y="2860302"/>
            <a:ext cx="5035643" cy="3252507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797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3E924A9-CAF5-9B4B-98E0-85F673CB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54" y="531538"/>
            <a:ext cx="9559128" cy="1106559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medios 4">
            <a:extLst>
              <a:ext uri="{FF2B5EF4-FFF2-40B4-BE49-F238E27FC236}">
                <a16:creationId xmlns:a16="http://schemas.microsoft.com/office/drawing/2014/main" id="{BEF3CE8C-793C-1145-84DD-7B818CE544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623327" y="1857101"/>
            <a:ext cx="9558618" cy="4096024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4893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F673202-8B18-514D-9685-8D97863D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338366"/>
            <a:ext cx="10443263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6450A7A0-43E0-1440-B983-790CAD8F434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48855" y="2994776"/>
            <a:ext cx="3781365" cy="2970960"/>
          </a:xfrm>
        </p:spPr>
        <p:txBody>
          <a:bodyPr/>
          <a:lstStyle/>
          <a:p>
            <a:endParaRPr lang="es-CO"/>
          </a:p>
        </p:txBody>
      </p:sp>
      <p:sp>
        <p:nvSpPr>
          <p:cNvPr id="7" name="Marcador de gráfico 6">
            <a:extLst>
              <a:ext uri="{FF2B5EF4-FFF2-40B4-BE49-F238E27FC236}">
                <a16:creationId xmlns:a16="http://schemas.microsoft.com/office/drawing/2014/main" id="{BD301C88-2BAD-5147-A445-06CFDF36B11C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450137" y="3007001"/>
            <a:ext cx="3263713" cy="2970960"/>
          </a:xfrm>
        </p:spPr>
        <p:txBody>
          <a:bodyPr/>
          <a:lstStyle/>
          <a:p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E5037AD-8243-C146-BBB8-4B269A3DE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09953" y="3007001"/>
            <a:ext cx="2982165" cy="29709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70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91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11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6558C-9957-AE48-B09C-A4407EA0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D30D66-9919-7345-8589-FCCA190222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79949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000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12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C6B46-AE0A-2242-9732-D30BEEE4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95848E47-E960-F840-BCAE-22AFDD09C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36476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27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603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87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D7DA507-BAB2-9D4E-9E47-F7A0ED59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56" y="1203891"/>
            <a:ext cx="5370054" cy="1325563"/>
          </a:xfrm>
        </p:spPr>
        <p:txBody>
          <a:bodyPr>
            <a:normAutofit/>
          </a:bodyPr>
          <a:lstStyle>
            <a:lvl1pPr>
              <a:defRPr sz="353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F1105376-6298-1040-BAAE-3D749FDA6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236" y="2800070"/>
            <a:ext cx="5370419" cy="3227294"/>
          </a:xfrm>
        </p:spPr>
        <p:txBody>
          <a:bodyPr>
            <a:normAutofit/>
          </a:bodyPr>
          <a:lstStyle>
            <a:lvl1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765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588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44545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142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497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609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6933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9543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5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13/10/2026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85177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13/10/2026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84698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1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37B9D68-8629-0DB9-8D51-0AB109551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326" y="4305127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1600941-86E2-B69B-ED30-8A311252B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326" y="5205263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C76E6C-06F7-5C52-1173-8966F121D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5" y="630493"/>
            <a:ext cx="3746388" cy="192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263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2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F321277-7840-BA53-930F-F992F4B881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5" y="630493"/>
            <a:ext cx="3746388" cy="1922383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78263A5-313A-DB5E-1FB9-DAEBD0A08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5" y="4397672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BCBE2B2F-2342-F4E6-1955-FF581A33D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5" y="5297808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7491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0297140-0A82-8526-F333-F359BC826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557" y="4721147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21EB0AC0-3EB8-20A9-8F78-1E262C94C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557" y="5621282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90942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E625071-867F-88AA-53E4-15D6E5952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7" y="4758966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D068ECC-943E-2515-0AF4-E20985B55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7" y="5659101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85494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A4B441-847C-9C95-4C3A-7622CA622F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806" y="2155894"/>
            <a:ext cx="3746388" cy="1922383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69BCC850-1A8E-D999-2062-0E1489BD8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4305194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68018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6" y="3878999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6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391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275566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Imagen 4" descr="Logotipo, Icono&#10;&#10;Descripción generada automáticamente">
            <a:extLst>
              <a:ext uri="{FF2B5EF4-FFF2-40B4-BE49-F238E27FC236}">
                <a16:creationId xmlns:a16="http://schemas.microsoft.com/office/drawing/2014/main" id="{D1A48F75-D143-B028-6E38-D32040281C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036" y="3645212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20325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6" y="3878999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6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391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275566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5" name="Imagen 14" descr="Logotipo, Icono&#10;&#10;Descripción generada automáticamente">
            <a:extLst>
              <a:ext uri="{FF2B5EF4-FFF2-40B4-BE49-F238E27FC236}">
                <a16:creationId xmlns:a16="http://schemas.microsoft.com/office/drawing/2014/main" id="{8B1E9A0C-17ED-01BC-2D5A-59ACD3E9BE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885" y="3648374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39285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5" y="4397672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5" y="5297808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53035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AF99DC35-6E37-510E-86E4-346EFDA4E54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55" y="3220568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13466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5" y="4397672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5" y="5297808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53035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EDF47380-5D80-C5B6-2DC9-E88EE0FF82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55" y="3226819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03713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40" y="1564185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40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62377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28" y="484775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08272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40" y="1564185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40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62377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28" y="484775"/>
            <a:ext cx="2569228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50530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7" y="4138334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7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56432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202" y="5479731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20363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7" y="4138334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7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56432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202" y="5479731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12418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1">
            <a:extLst>
              <a:ext uri="{FF2B5EF4-FFF2-40B4-BE49-F238E27FC236}">
                <a16:creationId xmlns:a16="http://schemas.microsoft.com/office/drawing/2014/main" id="{508C51D1-E784-49FC-A10E-45DCF5412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6" y="3878999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AB671F00-FA4D-44B1-BDD4-E428ECB99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6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7" name="Rectángulo">
            <a:extLst>
              <a:ext uri="{FF2B5EF4-FFF2-40B4-BE49-F238E27FC236}">
                <a16:creationId xmlns:a16="http://schemas.microsoft.com/office/drawing/2014/main" id="{E9C19E82-311E-4507-BFDD-6F54D9CABE2E}"/>
              </a:ext>
            </a:extLst>
          </p:cNvPr>
          <p:cNvSpPr/>
          <p:nvPr userDrawn="1"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391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70021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Gráfico 18">
            <a:extLst>
              <a:ext uri="{FF2B5EF4-FFF2-40B4-BE49-F238E27FC236}">
                <a16:creationId xmlns:a16="http://schemas.microsoft.com/office/drawing/2014/main" id="{9470649C-DFE0-2CDC-522F-66DD42B49B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8324" y="3722913"/>
            <a:ext cx="2536068" cy="88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84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39446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5" y="4397672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5" y="5297808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F0CD0D-0629-8D5F-049D-91A27552BF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808" y="2435441"/>
            <a:ext cx="3280375" cy="16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09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36049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5FDF1034-9D25-488F-81BF-695C39098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40" y="1549356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B64B71BA-AEA5-4DFC-81E8-27A3F8708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40" y="2449491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0295510-A358-0BE3-4277-9861C37A22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538" y="548175"/>
            <a:ext cx="2536070" cy="88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72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873" y="6351888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58131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7" y="4138334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7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F3CF4B6-99B0-8BA6-2CE8-B4C20482D6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46" y="5494195"/>
            <a:ext cx="2221980" cy="11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99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50389F3C-F4C4-45B0-80F6-7973FC9E715F}"/>
              </a:ext>
            </a:extLst>
          </p:cNvPr>
          <p:cNvSpPr/>
          <p:nvPr userDrawn="1"/>
        </p:nvSpPr>
        <p:spPr>
          <a:xfrm>
            <a:off x="3288572" y="0"/>
            <a:ext cx="8903428" cy="6858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462414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5" y="4397672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effectLst/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5" y="5297808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effectLst/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A156EC-7A48-8BCC-345A-509582A81A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808" y="2587372"/>
            <a:ext cx="3280375" cy="16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697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BB69F40-78E6-4E7D-942E-D48A83F9B8BB}"/>
              </a:ext>
            </a:extLst>
          </p:cNvPr>
          <p:cNvSpPr/>
          <p:nvPr userDrawn="1"/>
        </p:nvSpPr>
        <p:spPr>
          <a:xfrm flipH="1">
            <a:off x="0" y="0"/>
            <a:ext cx="8903428" cy="6858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7" y="6362068"/>
            <a:ext cx="2536069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7E69CF11-4305-42E0-8DC3-C2BA5DC1E6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538" y="548175"/>
            <a:ext cx="2536070" cy="884494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2478EF96-255E-4437-9F7B-C344B0354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40" y="1564185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7E70A27B-37BE-4E65-BB74-D433900A5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40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5219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37E542D-6EF4-40FC-B482-30158BD3D149}"/>
              </a:ext>
            </a:extLst>
          </p:cNvPr>
          <p:cNvSpPr/>
          <p:nvPr userDrawn="1"/>
        </p:nvSpPr>
        <p:spPr>
          <a:xfrm rot="16200000" flipH="1">
            <a:off x="4239796" y="-1094203"/>
            <a:ext cx="3712410" cy="12192001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3136" y="6362068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917644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 userDrawn="1"/>
        </p:nvSpPr>
        <p:spPr>
          <a:xfrm>
            <a:off x="306265" y="6362068"/>
            <a:ext cx="2335016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7" y="4138334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7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140" indent="0" algn="ctr">
              <a:buNone/>
              <a:defRPr sz="2000"/>
            </a:lvl2pPr>
            <a:lvl3pPr marL="914280" indent="0" algn="ctr">
              <a:buNone/>
              <a:defRPr sz="1800"/>
            </a:lvl3pPr>
            <a:lvl4pPr marL="1371419" indent="0" algn="ctr">
              <a:buNone/>
              <a:defRPr sz="1600"/>
            </a:lvl4pPr>
            <a:lvl5pPr marL="1828560" indent="0" algn="ctr">
              <a:buNone/>
              <a:defRPr sz="1600"/>
            </a:lvl5pPr>
            <a:lvl6pPr marL="2285699" indent="0" algn="ctr">
              <a:buNone/>
              <a:defRPr sz="1600"/>
            </a:lvl6pPr>
            <a:lvl7pPr marL="2742839" indent="0" algn="ctr">
              <a:buNone/>
              <a:defRPr sz="1600"/>
            </a:lvl7pPr>
            <a:lvl8pPr marL="3199978" indent="0" algn="ctr">
              <a:buNone/>
              <a:defRPr sz="1600"/>
            </a:lvl8pPr>
            <a:lvl9pPr marL="365711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94FDEDB-BB6E-D6B8-335A-CBDC2ACEB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46" y="5494195"/>
            <a:ext cx="2221980" cy="11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59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3" y="1280161"/>
            <a:ext cx="11521355" cy="471569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2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7" y="234549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385975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C60F3F6A-D901-B88A-301C-783EA0EAB8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1" y="225699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2079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3" y="1280161"/>
            <a:ext cx="11521355" cy="471569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2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7" y="234549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385975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9CA6321D-7B01-7334-BBF5-BE2DA5FD1D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1" y="225699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074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3" y="1280161"/>
            <a:ext cx="11521355" cy="47156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2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20956670-5A7F-49D4-8722-176461DF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98C3BA5-13A6-4C67-9E38-A11D21214C24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EF6EAF07-730A-4E35-915E-D653A3202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7" y="234549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solidFill>
                  <a:schemeClr val="bg1"/>
                </a:solidFill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FFF5260-7128-4E59-A75B-BB53F0308A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78A9F594-838A-45CA-B7A3-101BEA134EA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73271241-B6E9-4D53-B2D0-9A222A7A6E45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224612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6" name="Gráfico 18">
            <a:extLst>
              <a:ext uri="{FF2B5EF4-FFF2-40B4-BE49-F238E27FC236}">
                <a16:creationId xmlns:a16="http://schemas.microsoft.com/office/drawing/2014/main" id="{D62B7823-71B9-BE40-1CA4-29D22B6DFF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093" y="287710"/>
            <a:ext cx="1824723" cy="6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74473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275571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1" y="225699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56339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8" y="6300221"/>
            <a:ext cx="1233071" cy="44281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 userDrawn="1"/>
        </p:nvSpPr>
        <p:spPr>
          <a:xfrm>
            <a:off x="306266" y="6362068"/>
            <a:ext cx="2275571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1" y="225699"/>
            <a:ext cx="1939157" cy="75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11068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23B0B8-AF4E-4772-B211-71B3D1DD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8" y="6337896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1AF250-82BD-4487-AE36-B7878660DB59}"/>
              </a:ext>
            </a:extLst>
          </p:cNvPr>
          <p:cNvCxnSpPr>
            <a:cxnSpLocks/>
          </p:cNvCxnSpPr>
          <p:nvPr userDrawn="1"/>
        </p:nvCxnSpPr>
        <p:spPr>
          <a:xfrm>
            <a:off x="10587981" y="6313723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F375EB8E-3BCB-4783-BA02-63B6BC4F41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CD95C39D-1678-4144-854F-6707ACA0A64E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194818" y="5123707"/>
            <a:ext cx="1773837" cy="22052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BCA5982C-58D0-42AB-B818-0FBB3CCA2734}"/>
              </a:ext>
            </a:extLst>
          </p:cNvPr>
          <p:cNvSpPr txBox="1">
            <a:spLocks/>
          </p:cNvSpPr>
          <p:nvPr userDrawn="1"/>
        </p:nvSpPr>
        <p:spPr>
          <a:xfrm>
            <a:off x="306264" y="6362068"/>
            <a:ext cx="2216118" cy="365125"/>
          </a:xfrm>
          <a:prstGeom prst="rect">
            <a:avLst/>
          </a:prstGeom>
        </p:spPr>
        <p:txBody>
          <a:bodyPr vert="horz" lIns="80683" tIns="40341" rIns="80683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Gráfico 18">
            <a:extLst>
              <a:ext uri="{FF2B5EF4-FFF2-40B4-BE49-F238E27FC236}">
                <a16:creationId xmlns:a16="http://schemas.microsoft.com/office/drawing/2014/main" id="{9AD03423-7102-F2AF-160D-8E286C0581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093" y="287710"/>
            <a:ext cx="1824723" cy="6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078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1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37B9D68-8629-0DB9-8D51-0AB109551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325" y="4305126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C1600941-86E2-B69B-ED30-8A311252B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325" y="5205262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C76E6C-06F7-5C52-1173-8966F121D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5" y="630492"/>
            <a:ext cx="3746389" cy="192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565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 2 - 90 añ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AF321277-7840-BA53-930F-F992F4B88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5" y="630492"/>
            <a:ext cx="3746389" cy="1922382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78263A5-313A-DB5E-1FB9-DAEBD0A08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BCBE2B2F-2342-F4E6-1955-FF581A33D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31894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0297140-0A82-8526-F333-F359BC826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5556" y="4721145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21EB0AC0-3EB8-20A9-8F78-1E262C94C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556" y="5621281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08865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E625071-867F-88AA-53E4-15D6E5952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758964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4D068ECC-943E-2515-0AF4-E20985B55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659100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06383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8A4B441-847C-9C95-4C3A-7622CA622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806" y="2155893"/>
            <a:ext cx="3746389" cy="1922382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69BCC850-1A8E-D999-2062-0E1489BD8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5" y="4305194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88072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4" y="3878997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4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2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275566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" name="Imagen 4" descr="Logotipo, Icono&#10;&#10;Descripción generada automáticamente">
            <a:extLst>
              <a:ext uri="{FF2B5EF4-FFF2-40B4-BE49-F238E27FC236}">
                <a16:creationId xmlns:a16="http://schemas.microsoft.com/office/drawing/2014/main" id="{D1A48F75-D143-B028-6E38-D32040281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036" y="3645212"/>
            <a:ext cx="2569227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73121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4" y="3878997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4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2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275566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5" name="Imagen 14" descr="Logotipo, Icono&#10;&#10;Descripción generada automáticamente">
            <a:extLst>
              <a:ext uri="{FF2B5EF4-FFF2-40B4-BE49-F238E27FC236}">
                <a16:creationId xmlns:a16="http://schemas.microsoft.com/office/drawing/2014/main" id="{8B1E9A0C-17ED-01BC-2D5A-59ACD3E9BE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885" y="3648373"/>
            <a:ext cx="2569227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51837"/>
      </p:ext>
    </p:extLst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530354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AF99DC35-6E37-510E-86E4-346EFDA4E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56" y="3220568"/>
            <a:ext cx="2569227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35069"/>
      </p:ext>
    </p:extLst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530354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Imagen 6" descr="Logotipo, Icono&#10;&#10;Descripción generada automáticamente">
            <a:extLst>
              <a:ext uri="{FF2B5EF4-FFF2-40B4-BE49-F238E27FC236}">
                <a16:creationId xmlns:a16="http://schemas.microsoft.com/office/drawing/2014/main" id="{EDF47380-5D80-C5B6-2DC9-E88EE0FF822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956" y="3226819"/>
            <a:ext cx="2569227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78502"/>
      </p:ext>
    </p:extLst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38" y="1564183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38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623778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28" y="484775"/>
            <a:ext cx="2569227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986987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38" y="1564183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38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623778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B21A9555-14D4-73C9-D7B4-4AC08FC7AC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28" y="484775"/>
            <a:ext cx="2569227" cy="10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2329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138332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564329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202" y="5479731"/>
            <a:ext cx="1939157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26211"/>
      </p:ext>
    </p:extLst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138332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564329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E5541268-6A3A-B430-B92B-166CEE34CD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202" y="5479731"/>
            <a:ext cx="1939157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84357"/>
      </p:ext>
    </p:extLst>
  </p:cSld>
  <p:clrMapOvr>
    <a:masterClrMapping/>
  </p:clrMapOvr>
  <p:hf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1">
            <a:extLst>
              <a:ext uri="{FF2B5EF4-FFF2-40B4-BE49-F238E27FC236}">
                <a16:creationId xmlns:a16="http://schemas.microsoft.com/office/drawing/2014/main" id="{508C51D1-E784-49FC-A10E-45DCF5412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64" y="3878997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AB671F00-FA4D-44B1-BDD4-E428ECB99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64" y="4779133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7" name="Rectángulo">
            <a:extLst>
              <a:ext uri="{FF2B5EF4-FFF2-40B4-BE49-F238E27FC236}">
                <a16:creationId xmlns:a16="http://schemas.microsoft.com/office/drawing/2014/main" id="{E9C19E82-311E-4507-BFDD-6F54D9CABE2E}"/>
              </a:ext>
            </a:extLst>
          </p:cNvPr>
          <p:cNvSpPr/>
          <p:nvPr/>
        </p:nvSpPr>
        <p:spPr>
          <a:xfrm>
            <a:off x="1523999" y="3722914"/>
            <a:ext cx="7139165" cy="88130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2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700214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Gráfico 18">
            <a:extLst>
              <a:ext uri="{FF2B5EF4-FFF2-40B4-BE49-F238E27FC236}">
                <a16:creationId xmlns:a16="http://schemas.microsoft.com/office/drawing/2014/main" id="{9470649C-DFE0-2CDC-522F-66DD42B49B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98323" y="3722913"/>
            <a:ext cx="2536069" cy="88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15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394469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F0CD0D-0629-8D5F-049D-91A27552BF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808" y="2435440"/>
            <a:ext cx="3280375" cy="16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073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360494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5FDF1034-9D25-488F-81BF-695C39098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38" y="1549354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B64B71BA-AEA5-4DFC-81E8-27A3F8708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38" y="2449490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0295510-A358-0BE3-4277-9861C37A22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538" y="548174"/>
            <a:ext cx="2536070" cy="88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71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872" y="6351888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581314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138332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F3CF4B6-99B0-8BA6-2CE8-B4C20482D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46" y="5494195"/>
            <a:ext cx="2221980" cy="11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0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50389F3C-F4C4-45B0-80F6-7973FC9E715F}"/>
              </a:ext>
            </a:extLst>
          </p:cNvPr>
          <p:cNvSpPr/>
          <p:nvPr/>
        </p:nvSpPr>
        <p:spPr>
          <a:xfrm>
            <a:off x="3288572" y="0"/>
            <a:ext cx="8903428" cy="6858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5" y="6362068"/>
            <a:ext cx="2462414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E2E90C22-0DE3-4766-A1BB-2026B8AB6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2454" y="4397671"/>
            <a:ext cx="6242729" cy="858339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177">
                <a:effectLst/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23A48ACA-1A1E-4EAD-ABE4-732E1554E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2454" y="5297807"/>
            <a:ext cx="6242729" cy="365125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effectLst/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7A156EC-7A48-8BCC-345A-509582A81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4808" y="2587372"/>
            <a:ext cx="3280375" cy="168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99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BB69F40-78E6-4E7D-942E-D48A83F9B8BB}"/>
              </a:ext>
            </a:extLst>
          </p:cNvPr>
          <p:cNvSpPr/>
          <p:nvPr/>
        </p:nvSpPr>
        <p:spPr>
          <a:xfrm flipH="1">
            <a:off x="0" y="0"/>
            <a:ext cx="8903428" cy="6858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5" y="6362068"/>
            <a:ext cx="2536069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7E69CF11-4305-42E0-8DC3-C2BA5DC1E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538" y="548174"/>
            <a:ext cx="2536070" cy="884494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2478EF96-255E-4437-9F7B-C344B0354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538" y="1564183"/>
            <a:ext cx="6242729" cy="858339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7E70A27B-37BE-4E65-BB74-D433900A5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538" y="2464319"/>
            <a:ext cx="6242729" cy="36512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9999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037E542D-6EF4-40FC-B482-30158BD3D149}"/>
              </a:ext>
            </a:extLst>
          </p:cNvPr>
          <p:cNvSpPr/>
          <p:nvPr/>
        </p:nvSpPr>
        <p:spPr>
          <a:xfrm rot="16200000" flipH="1">
            <a:off x="4239796" y="-1094205"/>
            <a:ext cx="3712410" cy="12192001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5000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588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3135" y="6362068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/>
        </p:nvSpPr>
        <p:spPr>
          <a:xfrm rot="16200000">
            <a:off x="11194819" y="917643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246402F9-4D1B-4505-B576-CB1B0FBBDFF4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335016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tx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tx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tx1"/>
              </a:solidFill>
              <a:latin typeface="Avenir Next Medium" panose="020B0603020202020204" pitchFamily="34" charset="0"/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C20B4A8-0A2A-42D9-82A5-891CA1F61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4636" y="4138332"/>
            <a:ext cx="6242729" cy="858339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4E197AA1-A037-44B6-892C-3F11922717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4636" y="5038468"/>
            <a:ext cx="6242729" cy="36512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venir Next" panose="020B0503020202020204" pitchFamily="34" charset="0"/>
              </a:defRPr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94FDEDB-BB6E-D6B8-335A-CBDC2ACEB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846" y="5494195"/>
            <a:ext cx="2221980" cy="114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21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2" y="1280160"/>
            <a:ext cx="11521355" cy="471569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1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6" y="234548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/>
        </p:nvSpPr>
        <p:spPr>
          <a:xfrm rot="16200000">
            <a:off x="11194819" y="5123707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385975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C60F3F6A-D901-B88A-301C-783EA0EAB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0" y="225700"/>
            <a:ext cx="1939157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982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2" y="1280160"/>
            <a:ext cx="11521355" cy="471569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1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6" y="234548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/>
        </p:nvSpPr>
        <p:spPr>
          <a:xfrm rot="16200000">
            <a:off x="11194819" y="5123707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8F7950BE-34DE-4B47-9298-7F02465D90A0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385975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Imagen 1" descr="Logotipo, Icono&#10;&#10;Descripción generada automáticamente">
            <a:extLst>
              <a:ext uri="{FF2B5EF4-FFF2-40B4-BE49-F238E27FC236}">
                <a16:creationId xmlns:a16="http://schemas.microsoft.com/office/drawing/2014/main" id="{9CA6321D-7B01-7334-BBF5-BE2DA5FD1D6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0" y="225700"/>
            <a:ext cx="1939157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1726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842" y="1280160"/>
            <a:ext cx="11521355" cy="47156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9747255" y="298451"/>
            <a:ext cx="0" cy="62565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20956670-5A7F-49D4-8722-176461DF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98C3BA5-13A6-4C67-9E38-A11D21214C24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EF6EAF07-730A-4E35-915E-D653A3202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156" y="234548"/>
            <a:ext cx="7410787" cy="858339"/>
          </a:xfrm>
        </p:spPr>
        <p:txBody>
          <a:bodyPr anchor="b">
            <a:noAutofit/>
          </a:bodyPr>
          <a:lstStyle>
            <a:lvl1pPr algn="l">
              <a:defRPr sz="3177">
                <a:solidFill>
                  <a:schemeClr val="bg1"/>
                </a:solidFill>
                <a:latin typeface="Vice City Sans" panose="02000000000000000000" pitchFamily="50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FFF5260-7128-4E59-A75B-BB53F0308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78A9F594-838A-45CA-B7A3-101BEA134EAF}"/>
              </a:ext>
            </a:extLst>
          </p:cNvPr>
          <p:cNvSpPr txBox="1">
            <a:spLocks/>
          </p:cNvSpPr>
          <p:nvPr/>
        </p:nvSpPr>
        <p:spPr>
          <a:xfrm rot="16200000">
            <a:off x="11194819" y="5123707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73271241-B6E9-4D53-B2D0-9A222A7A6E45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224612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6" name="Gráfico 18">
            <a:extLst>
              <a:ext uri="{FF2B5EF4-FFF2-40B4-BE49-F238E27FC236}">
                <a16:creationId xmlns:a16="http://schemas.microsoft.com/office/drawing/2014/main" id="{D62B7823-71B9-BE40-1CA4-29D22B6DFF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092" y="287709"/>
            <a:ext cx="1824723" cy="6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61111"/>
      </p:ext>
    </p:extLst>
  </p:cSld>
  <p:clrMapOvr>
    <a:masterClrMapping/>
  </p:clrMapOvr>
  <p:hf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/>
        </p:nvSpPr>
        <p:spPr>
          <a:xfrm rot="16200000">
            <a:off x="11194819" y="5123707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/>
        </p:nvSpPr>
        <p:spPr>
          <a:xfrm>
            <a:off x="306265" y="6362068"/>
            <a:ext cx="2275571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0" y="225700"/>
            <a:ext cx="1939157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3685"/>
      </p:ext>
    </p:extLst>
  </p:cSld>
  <p:clrMapOvr>
    <a:masterClrMapping/>
  </p:clrMapOvr>
  <p:hf hdr="0" ft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9176" y="6300221"/>
            <a:ext cx="1233071" cy="44281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/>
        </p:nvSpPr>
        <p:spPr>
          <a:xfrm rot="16200000">
            <a:off x="11194819" y="5123707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bg1">
                    <a:lumMod val="75000"/>
                  </a:schemeClr>
                </a:solidFill>
              </a:rPr>
              <a:t>Vigilada Mineducación</a:t>
            </a:r>
            <a:endParaRPr lang="es-CO" sz="1059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4D562F97-6E97-43D4-994D-0A52AA131563}"/>
              </a:ext>
            </a:extLst>
          </p:cNvPr>
          <p:cNvSpPr txBox="1">
            <a:spLocks/>
          </p:cNvSpPr>
          <p:nvPr/>
        </p:nvSpPr>
        <p:spPr>
          <a:xfrm>
            <a:off x="306265" y="6362068"/>
            <a:ext cx="2275571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>
                    <a:lumMod val="65000"/>
                  </a:schemeClr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>
                  <a:lumMod val="65000"/>
                </a:schemeClr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4" name="Imagen 3" descr="Logotipo, Icono&#10;&#10;Descripción generada automáticamente">
            <a:extLst>
              <a:ext uri="{FF2B5EF4-FFF2-40B4-BE49-F238E27FC236}">
                <a16:creationId xmlns:a16="http://schemas.microsoft.com/office/drawing/2014/main" id="{D5A8754D-504A-E544-663B-C75A77B34E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7710" y="225700"/>
            <a:ext cx="1939157" cy="75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117575"/>
      </p:ext>
    </p:extLst>
  </p:cSld>
  <p:clrMapOvr>
    <a:masterClrMapping/>
  </p:clrMapOvr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23B0B8-AF4E-4772-B211-71B3D1DD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4187" y="6337895"/>
            <a:ext cx="632601" cy="365125"/>
          </a:xfrm>
        </p:spPr>
        <p:txBody>
          <a:bodyPr/>
          <a:lstStyle>
            <a:lvl1pPr>
              <a:defRPr sz="1000"/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1AF250-82BD-4487-AE36-B7878660DB59}"/>
              </a:ext>
            </a:extLst>
          </p:cNvPr>
          <p:cNvCxnSpPr>
            <a:cxnSpLocks/>
          </p:cNvCxnSpPr>
          <p:nvPr/>
        </p:nvCxnSpPr>
        <p:spPr>
          <a:xfrm>
            <a:off x="10587981" y="6313724"/>
            <a:ext cx="0" cy="41347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F375EB8E-3BCB-4783-BA02-63B6BC4F4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5605" y="6303607"/>
            <a:ext cx="1179526" cy="423587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CD95C39D-1678-4144-854F-6707ACA0A64E}"/>
              </a:ext>
            </a:extLst>
          </p:cNvPr>
          <p:cNvSpPr txBox="1">
            <a:spLocks/>
          </p:cNvSpPr>
          <p:nvPr/>
        </p:nvSpPr>
        <p:spPr>
          <a:xfrm rot="16200000">
            <a:off x="11194819" y="5123707"/>
            <a:ext cx="1773836" cy="22052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59">
                <a:solidFill>
                  <a:schemeClr val="tx1">
                    <a:lumMod val="50000"/>
                    <a:lumOff val="50000"/>
                  </a:schemeClr>
                </a:solidFill>
              </a:rPr>
              <a:t>Vigilada Mineducación</a:t>
            </a:r>
            <a:endParaRPr lang="es-CO" sz="1059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BCA5982C-58D0-42AB-B818-0FBB3CCA2734}"/>
              </a:ext>
            </a:extLst>
          </p:cNvPr>
          <p:cNvSpPr txBox="1">
            <a:spLocks/>
          </p:cNvSpPr>
          <p:nvPr/>
        </p:nvSpPr>
        <p:spPr>
          <a:xfrm>
            <a:off x="306264" y="6362068"/>
            <a:ext cx="2216119" cy="365125"/>
          </a:xfrm>
          <a:prstGeom prst="rect">
            <a:avLst/>
          </a:prstGeom>
        </p:spPr>
        <p:txBody>
          <a:bodyPr vert="horz" lIns="80682" tIns="40341" rIns="80682" bIns="40341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1800" b="1" i="0">
                <a:solidFill>
                  <a:schemeClr val="bg1"/>
                </a:solidFill>
                <a:latin typeface="Avenir Next Medium" panose="020B0603020202020204" pitchFamily="34" charset="0"/>
              </a:rPr>
              <a:t>UPB #</a:t>
            </a:r>
            <a:r>
              <a:rPr lang="es-ES" sz="1800" b="1" i="0" err="1">
                <a:solidFill>
                  <a:schemeClr val="bg1"/>
                </a:solidFill>
                <a:latin typeface="Avenir Next Medium" panose="020B0603020202020204" pitchFamily="34" charset="0"/>
              </a:rPr>
              <a:t>SinLímites</a:t>
            </a:r>
            <a:endParaRPr lang="es-CO" sz="1800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2" name="Gráfico 18">
            <a:extLst>
              <a:ext uri="{FF2B5EF4-FFF2-40B4-BE49-F238E27FC236}">
                <a16:creationId xmlns:a16="http://schemas.microsoft.com/office/drawing/2014/main" id="{9AD03423-7102-F2AF-160D-8E286C058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1092" y="287709"/>
            <a:ext cx="1824723" cy="63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94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  <p15:guide id="2" pos="43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51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7.xml"/><Relationship Id="rId3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72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76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71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73.xml"/><Relationship Id="rId2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562" y="287047"/>
            <a:ext cx="112942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563" y="1747546"/>
            <a:ext cx="11294289" cy="4169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51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</p:sldLayoutIdLs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j-ea"/>
          <a:cs typeface="+mj-cs"/>
        </a:defRPr>
      </a:lvl1pPr>
    </p:titleStyle>
    <p:bodyStyle>
      <a:lvl1pPr marL="228605" indent="-228605" algn="l" defTabSz="91442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0325FA-493F-414B-9F4D-48D79DCD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A7632-4E47-4D76-AD2A-A7BB28E48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7D1B44-BC11-48C4-A76E-BB9406089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57B0B941-4A50-40E2-B280-513CE8BFB539}" type="datetimeFigureOut">
              <a:rPr lang="es-CO" smtClean="0"/>
              <a:pPr/>
              <a:t>13/10/2026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25E32E-CB67-48D4-B523-EA4227A21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26383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069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</p:sldLayoutIdLst>
  <p:hf hdr="0" ftr="0" dt="0"/>
  <p:txStyles>
    <p:titleStyle>
      <a:lvl1pPr algn="l" defTabSz="91428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75000"/>
              <a:lumOff val="25000"/>
            </a:schemeClr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28569" indent="-228569" algn="l" defTabSz="91428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1pPr>
      <a:lvl2pPr marL="68570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2pPr>
      <a:lvl3pPr marL="114284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3pPr>
      <a:lvl4pPr marL="159998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4pPr>
      <a:lvl5pPr marL="205712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5pPr>
      <a:lvl6pPr marL="251426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9" indent="-228569" algn="l" defTabSz="9142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19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60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99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39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8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0325FA-493F-414B-9F4D-48D79DCD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A7632-4E47-4D76-AD2A-A7BB28E48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7D1B44-BC11-48C4-A76E-BB9406089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57B0B941-4A50-40E2-B280-513CE8BFB539}" type="datetimeFigureOut">
              <a:rPr lang="es-CO" smtClean="0"/>
              <a:pPr/>
              <a:t>13/10/2026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25E32E-CB67-48D4-B523-EA4227A21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263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B453E7C7-8AE5-4AED-AD03-ACF7236A778A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733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</p:sldLayoutIdLst>
  <p:hf hdr="0" ftr="0" dt="0"/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75000"/>
              <a:lumOff val="25000"/>
            </a:schemeClr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28605" indent="-228605" algn="l" defTabSz="91442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esar.lopezg@upb.edu.co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CB327D79-BB44-4E95-9C78-66D1BA69F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4109" y="3418544"/>
            <a:ext cx="5093909" cy="1585238"/>
          </a:xfrm>
        </p:spPr>
        <p:txBody>
          <a:bodyPr>
            <a:normAutofit/>
          </a:bodyPr>
          <a:lstStyle/>
          <a:p>
            <a:pPr algn="r"/>
            <a:r>
              <a:rPr lang="es-ES" sz="3600" i="1" dirty="0">
                <a:solidFill>
                  <a:schemeClr val="bg1">
                    <a:lumMod val="50000"/>
                  </a:schemeClr>
                </a:solidFill>
              </a:rPr>
              <a:t>Microservicio Pagos: de Clean a hexagonal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C860B381-63A3-4410-8AFF-671E8ACEF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2880" y="5277995"/>
            <a:ext cx="5985138" cy="134995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s-ES" sz="1667" dirty="0"/>
              <a:t>MSc. César Augusto López Gallego</a:t>
            </a:r>
          </a:p>
          <a:p>
            <a:pPr>
              <a:spcBef>
                <a:spcPts val="0"/>
              </a:spcBef>
            </a:pPr>
            <a:r>
              <a:rPr lang="es-ES" sz="1667" dirty="0"/>
              <a:t>Profesor Facultad Ingeniería en TIC – UPB</a:t>
            </a:r>
          </a:p>
          <a:p>
            <a:pPr>
              <a:spcBef>
                <a:spcPts val="0"/>
              </a:spcBef>
            </a:pPr>
            <a:r>
              <a:rPr lang="es-ES" sz="1667" dirty="0"/>
              <a:t>Coordinador Área de Programación, Computación y Desarrollo de Software</a:t>
            </a:r>
          </a:p>
          <a:p>
            <a:pPr>
              <a:spcBef>
                <a:spcPts val="0"/>
              </a:spcBef>
            </a:pPr>
            <a:r>
              <a:rPr lang="es-ES" sz="1667" dirty="0">
                <a:hlinkClick r:id="rId3"/>
              </a:rPr>
              <a:t>cesar.lopezg@upb.edu.co</a:t>
            </a:r>
            <a:endParaRPr lang="es-ES" sz="1667" dirty="0"/>
          </a:p>
        </p:txBody>
      </p:sp>
    </p:spTree>
    <p:extLst>
      <p:ext uri="{BB962C8B-B14F-4D97-AF65-F5344CB8AC3E}">
        <p14:creationId xmlns:p14="http://schemas.microsoft.com/office/powerpoint/2010/main" val="2782969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1 · LA DECISIÓN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73393"/>
            <a:ext cx="89154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 dirty="0">
                <a:solidFill>
                  <a:srgbClr val="2B2B33"/>
                </a:solidFill>
              </a:rPr>
              <a:t>Los tres sirven; pero… cuánto se nota?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109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300" b="0" i="0">
                <a:solidFill>
                  <a:srgbClr val="2B2B33"/>
                </a:solidFill>
              </a:rPr>
              <a:t>A Sanciones, Pagos y Licencias les sirve cualquiera de las dos arquitecturas. Lo que varía es </a:t>
            </a:r>
            <a:r>
              <a:rPr lang="es-ES" sz="1300" b="1" i="0">
                <a:solidFill>
                  <a:srgbClr val="2B2B33"/>
                </a:solidFill>
              </a:rPr>
              <a:t>cuánto se nota la diferencia</a:t>
            </a:r>
            <a:r>
              <a:rPr lang="es-ES" sz="1300" b="0" i="0">
                <a:solidFill>
                  <a:srgbClr val="2B2B33"/>
                </a:solidFill>
              </a:rPr>
              <a:t> al cambiar.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828800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350" b="1" i="0">
                <a:solidFill>
                  <a:srgbClr val="FFFFFF"/>
                </a:solidFill>
              </a:rPr>
              <a:t>Sanciones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350" b="1" i="0">
                <a:solidFill>
                  <a:srgbClr val="FFFFFF"/>
                </a:solidFill>
              </a:rPr>
              <a:t>Pagos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828800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D9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350" b="1" i="0">
                <a:solidFill>
                  <a:srgbClr val="FFFFFF"/>
                </a:solidFill>
              </a:rPr>
              <a:t>Licencias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59152"/>
            <a:ext cx="2606040" cy="621792"/>
          </a:xfrm>
          <a:prstGeom prst="roundRect">
            <a:avLst>
              <a:gd name="adj" fmla="val 17647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lang="es-ES" sz="1200" b="1" i="0">
                <a:solidFill>
                  <a:srgbClr val="2B2B33"/>
                </a:solidFill>
              </a:rPr>
              <a:t>Entradas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359152"/>
            <a:ext cx="2697480" cy="621792"/>
          </a:xfrm>
          <a:prstGeom prst="roundRect">
            <a:avLst>
              <a:gd name="adj" fmla="val 14705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3419856" y="2560320"/>
            <a:ext cx="201168" cy="182880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Hexagon 10"/>
          <p:cNvSpPr/>
          <p:nvPr/>
        </p:nvSpPr>
        <p:spPr>
          <a:xfrm>
            <a:off x="3666744" y="2560320"/>
            <a:ext cx="201168" cy="182880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Hexagon 11"/>
          <p:cNvSpPr/>
          <p:nvPr/>
        </p:nvSpPr>
        <p:spPr>
          <a:xfrm>
            <a:off x="3913632" y="2560320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2359152"/>
            <a:ext cx="1737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50" b="0" i="0">
                <a:solidFill>
                  <a:srgbClr val="2B2B33"/>
                </a:solidFill>
              </a:rPr>
              <a:t>HTTP y bus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359152"/>
            <a:ext cx="2697480" cy="621792"/>
          </a:xfrm>
          <a:prstGeom prst="roundRect">
            <a:avLst>
              <a:gd name="adj" fmla="val 14705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>
            <a:off x="6254496" y="2560320"/>
            <a:ext cx="201168" cy="18288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Hexagon 15"/>
          <p:cNvSpPr/>
          <p:nvPr/>
        </p:nvSpPr>
        <p:spPr>
          <a:xfrm>
            <a:off x="6501383" y="2560320"/>
            <a:ext cx="201168" cy="18288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Hexagon 16"/>
          <p:cNvSpPr/>
          <p:nvPr/>
        </p:nvSpPr>
        <p:spPr>
          <a:xfrm>
            <a:off x="6748272" y="2560320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0" y="2359152"/>
            <a:ext cx="1737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50" b="0" i="0">
                <a:solidFill>
                  <a:srgbClr val="2B2B33"/>
                </a:solidFill>
              </a:rPr>
              <a:t>HTTP y bus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359152"/>
            <a:ext cx="2697480" cy="621792"/>
          </a:xfrm>
          <a:prstGeom prst="roundRect">
            <a:avLst>
              <a:gd name="adj" fmla="val 14705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Hexagon 19"/>
          <p:cNvSpPr/>
          <p:nvPr/>
        </p:nvSpPr>
        <p:spPr>
          <a:xfrm>
            <a:off x="9089136" y="2560320"/>
            <a:ext cx="201168" cy="182880"/>
          </a:xfrm>
          <a:prstGeom prst="hexagon">
            <a:avLst/>
          </a:prstGeom>
          <a:solidFill>
            <a:srgbClr val="D9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Hexagon 20"/>
          <p:cNvSpPr/>
          <p:nvPr/>
        </p:nvSpPr>
        <p:spPr>
          <a:xfrm>
            <a:off x="9336024" y="2560320"/>
            <a:ext cx="201168" cy="182880"/>
          </a:xfrm>
          <a:prstGeom prst="hexagon">
            <a:avLst/>
          </a:prstGeom>
          <a:solidFill>
            <a:srgbClr val="D9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Hexagon 21"/>
          <p:cNvSpPr/>
          <p:nvPr/>
        </p:nvSpPr>
        <p:spPr>
          <a:xfrm>
            <a:off x="9582912" y="2560320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0" y="2359152"/>
            <a:ext cx="1737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50" b="0" i="0">
                <a:solidFill>
                  <a:srgbClr val="2B2B33"/>
                </a:solidFill>
              </a:rPr>
              <a:t>HTTP y bus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035808"/>
            <a:ext cx="2606040" cy="621792"/>
          </a:xfrm>
          <a:prstGeom prst="roundRect">
            <a:avLst>
              <a:gd name="adj" fmla="val 17647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lang="es-ES" sz="1200" b="1" i="0">
                <a:solidFill>
                  <a:srgbClr val="2B2B33"/>
                </a:solidFill>
              </a:rPr>
              <a:t>Llamadas a sistemas externos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035808"/>
            <a:ext cx="2697480" cy="621792"/>
          </a:xfrm>
          <a:prstGeom prst="roundRect">
            <a:avLst>
              <a:gd name="adj" fmla="val 14705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Hexagon 25"/>
          <p:cNvSpPr/>
          <p:nvPr/>
        </p:nvSpPr>
        <p:spPr>
          <a:xfrm>
            <a:off x="3419856" y="3236976"/>
            <a:ext cx="201168" cy="182880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Hexagon 26"/>
          <p:cNvSpPr/>
          <p:nvPr/>
        </p:nvSpPr>
        <p:spPr>
          <a:xfrm>
            <a:off x="3666744" y="3236976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Hexagon 27"/>
          <p:cNvSpPr/>
          <p:nvPr/>
        </p:nvSpPr>
        <p:spPr>
          <a:xfrm>
            <a:off x="3913632" y="3236976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06240" y="3035808"/>
            <a:ext cx="1737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50" b="0" i="0">
                <a:solidFill>
                  <a:srgbClr val="2B2B33"/>
                </a:solidFill>
              </a:rPr>
              <a:t>webhook a la Policía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035808"/>
            <a:ext cx="2697480" cy="621792"/>
          </a:xfrm>
          <a:prstGeom prst="roundRect">
            <a:avLst>
              <a:gd name="adj" fmla="val 14705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Hexagon 30"/>
          <p:cNvSpPr/>
          <p:nvPr/>
        </p:nvSpPr>
        <p:spPr>
          <a:xfrm>
            <a:off x="6254496" y="3236976"/>
            <a:ext cx="201168" cy="18288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2" name="Hexagon 31"/>
          <p:cNvSpPr/>
          <p:nvPr/>
        </p:nvSpPr>
        <p:spPr>
          <a:xfrm>
            <a:off x="6501383" y="3236976"/>
            <a:ext cx="201168" cy="18288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3" name="Hexagon 32"/>
          <p:cNvSpPr/>
          <p:nvPr/>
        </p:nvSpPr>
        <p:spPr>
          <a:xfrm>
            <a:off x="6748272" y="3236976"/>
            <a:ext cx="201168" cy="18288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0" y="3035808"/>
            <a:ext cx="1737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50" b="0" i="0">
                <a:solidFill>
                  <a:srgbClr val="2B2B33"/>
                </a:solidFill>
              </a:rPr>
              <a:t>Sanciones por HTTP y pasarela FakePay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3035808"/>
            <a:ext cx="2697480" cy="621792"/>
          </a:xfrm>
          <a:prstGeom prst="roundRect">
            <a:avLst>
              <a:gd name="adj" fmla="val 14705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6" name="Hexagon 35"/>
          <p:cNvSpPr/>
          <p:nvPr/>
        </p:nvSpPr>
        <p:spPr>
          <a:xfrm>
            <a:off x="9089136" y="3236976"/>
            <a:ext cx="201168" cy="182880"/>
          </a:xfrm>
          <a:prstGeom prst="hexagon">
            <a:avLst/>
          </a:prstGeom>
          <a:solidFill>
            <a:srgbClr val="D9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7" name="Hexagon 36"/>
          <p:cNvSpPr/>
          <p:nvPr/>
        </p:nvSpPr>
        <p:spPr>
          <a:xfrm>
            <a:off x="9336024" y="3236976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8" name="Hexagon 37"/>
          <p:cNvSpPr/>
          <p:nvPr/>
        </p:nvSpPr>
        <p:spPr>
          <a:xfrm>
            <a:off x="9582912" y="3236976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75520" y="3035808"/>
            <a:ext cx="1737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50" b="0" i="0">
                <a:solidFill>
                  <a:srgbClr val="2B2B33"/>
                </a:solidFill>
              </a:rPr>
              <a:t>webhook al RUNT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712464"/>
            <a:ext cx="2606040" cy="621792"/>
          </a:xfrm>
          <a:prstGeom prst="roundRect">
            <a:avLst>
              <a:gd name="adj" fmla="val 17647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lang="es-ES" sz="1200" b="1" i="0">
                <a:solidFill>
                  <a:srgbClr val="2B2B33"/>
                </a:solidFill>
              </a:rPr>
              <a:t>Riqueza del dominio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3712464"/>
            <a:ext cx="2697480" cy="621792"/>
          </a:xfrm>
          <a:prstGeom prst="roundRect">
            <a:avLst>
              <a:gd name="adj" fmla="val 14705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2" name="Hexagon 41"/>
          <p:cNvSpPr/>
          <p:nvPr/>
        </p:nvSpPr>
        <p:spPr>
          <a:xfrm>
            <a:off x="3419856" y="3913632"/>
            <a:ext cx="201168" cy="182880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3" name="Hexagon 42"/>
          <p:cNvSpPr/>
          <p:nvPr/>
        </p:nvSpPr>
        <p:spPr>
          <a:xfrm>
            <a:off x="3666744" y="3913632"/>
            <a:ext cx="201168" cy="182880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4" name="Hexagon 43"/>
          <p:cNvSpPr/>
          <p:nvPr/>
        </p:nvSpPr>
        <p:spPr>
          <a:xfrm>
            <a:off x="3913632" y="3913632"/>
            <a:ext cx="201168" cy="182880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06240" y="3712464"/>
            <a:ext cx="1737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50" b="0" i="0">
                <a:solidFill>
                  <a:srgbClr val="2B2B33"/>
                </a:solidFill>
              </a:rPr>
              <a:t>apelaciones, descuentos, 6 reglas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80" y="3712464"/>
            <a:ext cx="2697480" cy="621792"/>
          </a:xfrm>
          <a:prstGeom prst="roundRect">
            <a:avLst>
              <a:gd name="adj" fmla="val 14705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7" name="Hexagon 46"/>
          <p:cNvSpPr/>
          <p:nvPr/>
        </p:nvSpPr>
        <p:spPr>
          <a:xfrm>
            <a:off x="6254496" y="3913632"/>
            <a:ext cx="201168" cy="18288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8" name="Hexagon 47"/>
          <p:cNvSpPr/>
          <p:nvPr/>
        </p:nvSpPr>
        <p:spPr>
          <a:xfrm>
            <a:off x="6501383" y="3913632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9" name="Hexagon 48"/>
          <p:cNvSpPr/>
          <p:nvPr/>
        </p:nvSpPr>
        <p:spPr>
          <a:xfrm>
            <a:off x="6748272" y="3913632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40880" y="3712464"/>
            <a:ext cx="1737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50" b="0" i="0">
                <a:solidFill>
                  <a:srgbClr val="2B2B33"/>
                </a:solidFill>
              </a:rPr>
              <a:t>un agregado y el patrón State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61120" y="3712464"/>
            <a:ext cx="2697480" cy="621792"/>
          </a:xfrm>
          <a:prstGeom prst="roundRect">
            <a:avLst>
              <a:gd name="adj" fmla="val 14705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2" name="Hexagon 51"/>
          <p:cNvSpPr/>
          <p:nvPr/>
        </p:nvSpPr>
        <p:spPr>
          <a:xfrm>
            <a:off x="9089136" y="3913632"/>
            <a:ext cx="201168" cy="182880"/>
          </a:xfrm>
          <a:prstGeom prst="hexagon">
            <a:avLst/>
          </a:prstGeom>
          <a:solidFill>
            <a:srgbClr val="D9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3" name="Hexagon 52"/>
          <p:cNvSpPr/>
          <p:nvPr/>
        </p:nvSpPr>
        <p:spPr>
          <a:xfrm>
            <a:off x="9336024" y="3913632"/>
            <a:ext cx="201168" cy="182880"/>
          </a:xfrm>
          <a:prstGeom prst="hexagon">
            <a:avLst/>
          </a:prstGeom>
          <a:solidFill>
            <a:srgbClr val="D9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4" name="Hexagon 53"/>
          <p:cNvSpPr/>
          <p:nvPr/>
        </p:nvSpPr>
        <p:spPr>
          <a:xfrm>
            <a:off x="9582912" y="3913632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75520" y="3712464"/>
            <a:ext cx="1737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50" b="0" i="0">
                <a:solidFill>
                  <a:srgbClr val="2B2B33"/>
                </a:solidFill>
              </a:rPr>
              <a:t>puntos, vigencia, 4 reglas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389120"/>
            <a:ext cx="2606040" cy="621792"/>
          </a:xfrm>
          <a:prstGeom prst="roundRect">
            <a:avLst>
              <a:gd name="adj" fmla="val 17647"/>
            </a:avLst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lang="es-ES" sz="1200" b="1" i="0">
                <a:solidFill>
                  <a:srgbClr val="FFFFFF"/>
                </a:solidFill>
              </a:rPr>
              <a:t>Cuánto se nota la hexagonal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91840" y="4389120"/>
            <a:ext cx="2697480" cy="621792"/>
          </a:xfrm>
          <a:prstGeom prst="roundRect">
            <a:avLst>
              <a:gd name="adj" fmla="val 14705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8" name="Hexagon 57"/>
          <p:cNvSpPr/>
          <p:nvPr/>
        </p:nvSpPr>
        <p:spPr>
          <a:xfrm>
            <a:off x="3419856" y="4590288"/>
            <a:ext cx="201168" cy="182880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9" name="Hexagon 58"/>
          <p:cNvSpPr/>
          <p:nvPr/>
        </p:nvSpPr>
        <p:spPr>
          <a:xfrm>
            <a:off x="3666744" y="4590288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0" name="Hexagon 59"/>
          <p:cNvSpPr/>
          <p:nvPr/>
        </p:nvSpPr>
        <p:spPr>
          <a:xfrm>
            <a:off x="3913632" y="4590288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06240" y="4389120"/>
            <a:ext cx="1737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50" b="1" i="0">
                <a:solidFill>
                  <a:srgbClr val="2B2B33"/>
                </a:solidFill>
              </a:rPr>
              <a:t>casi solo renombrar carpetas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4389120"/>
            <a:ext cx="2697480" cy="621792"/>
          </a:xfrm>
          <a:prstGeom prst="roundRect">
            <a:avLst>
              <a:gd name="adj" fmla="val 14705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3" name="Hexagon 62"/>
          <p:cNvSpPr/>
          <p:nvPr/>
        </p:nvSpPr>
        <p:spPr>
          <a:xfrm>
            <a:off x="6254496" y="4590288"/>
            <a:ext cx="201168" cy="18288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4" name="Hexagon 63"/>
          <p:cNvSpPr/>
          <p:nvPr/>
        </p:nvSpPr>
        <p:spPr>
          <a:xfrm>
            <a:off x="6501383" y="4590288"/>
            <a:ext cx="201168" cy="18288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5" name="Hexagon 64"/>
          <p:cNvSpPr/>
          <p:nvPr/>
        </p:nvSpPr>
        <p:spPr>
          <a:xfrm>
            <a:off x="6748272" y="4590288"/>
            <a:ext cx="201168" cy="18288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040880" y="4389120"/>
            <a:ext cx="1737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50" b="1" i="0">
                <a:solidFill>
                  <a:srgbClr val="2B2B33"/>
                </a:solidFill>
              </a:rPr>
              <a:t>la frontera queda a la vista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61120" y="4389120"/>
            <a:ext cx="2697480" cy="621792"/>
          </a:xfrm>
          <a:prstGeom prst="roundRect">
            <a:avLst>
              <a:gd name="adj" fmla="val 14705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8" name="Hexagon 67"/>
          <p:cNvSpPr/>
          <p:nvPr/>
        </p:nvSpPr>
        <p:spPr>
          <a:xfrm>
            <a:off x="9089136" y="4590288"/>
            <a:ext cx="201168" cy="182880"/>
          </a:xfrm>
          <a:prstGeom prst="hexagon">
            <a:avLst/>
          </a:prstGeom>
          <a:solidFill>
            <a:srgbClr val="D9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9" name="Hexagon 68"/>
          <p:cNvSpPr/>
          <p:nvPr/>
        </p:nvSpPr>
        <p:spPr>
          <a:xfrm>
            <a:off x="9336024" y="4590288"/>
            <a:ext cx="201168" cy="182880"/>
          </a:xfrm>
          <a:prstGeom prst="hexagon">
            <a:avLst/>
          </a:prstGeom>
          <a:solidFill>
            <a:srgbClr val="D9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0" name="Hexagon 69"/>
          <p:cNvSpPr/>
          <p:nvPr/>
        </p:nvSpPr>
        <p:spPr>
          <a:xfrm>
            <a:off x="9582912" y="4590288"/>
            <a:ext cx="201168" cy="182880"/>
          </a:xfrm>
          <a:prstGeom prst="hexagon">
            <a:avLst/>
          </a:prstGeom>
          <a:solidFill>
            <a:srgbClr val="FFFFFF"/>
          </a:solidFill>
          <a:ln w="9525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875520" y="4389120"/>
            <a:ext cx="17373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050" b="1" i="0">
                <a:solidFill>
                  <a:srgbClr val="2B2B33"/>
                </a:solidFill>
              </a:rPr>
              <a:t>algo: dos entradas y un webhook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Pagos tiene mucha frontera y poco interior:</a:t>
            </a:r>
            <a:r>
              <a:rPr lang="es-ES" sz="1150" b="0" i="0">
                <a:solidFill>
                  <a:srgbClr val="2B2B33"/>
                </a:solidFill>
              </a:rPr>
              <a:t> justo lo que la hexagonal pone en primer plano.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1 · LA DECISIÓN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73393"/>
            <a:ext cx="89154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 dirty="0">
                <a:solidFill>
                  <a:srgbClr val="2B2B33"/>
                </a:solidFill>
              </a:rPr>
              <a:t>Pagos: mucha frontera, poco interior ✅</a:t>
            </a:r>
          </a:p>
        </p:txBody>
      </p:sp>
      <p:sp>
        <p:nvSpPr>
          <p:cNvPr id="4" name="Hexagon 3"/>
          <p:cNvSpPr/>
          <p:nvPr/>
        </p:nvSpPr>
        <p:spPr>
          <a:xfrm>
            <a:off x="4114800" y="1554480"/>
            <a:ext cx="3931920" cy="3383280"/>
          </a:xfrm>
          <a:prstGeom prst="hexagon">
            <a:avLst/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4937760" y="2331720"/>
            <a:ext cx="2286000" cy="182880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250" b="1" i="0">
                <a:solidFill>
                  <a:srgbClr val="FFFFFF"/>
                </a:solidFill>
              </a:rPr>
              <a:t>Dominio pequeño</a:t>
            </a:r>
          </a:p>
          <a:p>
            <a:pPr algn="ctr"/>
            <a:r>
              <a:rPr lang="es-ES" sz="1250" b="0" i="0">
                <a:solidFill>
                  <a:srgbClr val="FFFFFF"/>
                </a:solidFill>
              </a:rPr>
              <a:t>Pago +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1" i="0">
                <a:solidFill>
                  <a:srgbClr val="7A2FBF"/>
                </a:solidFill>
              </a:rPr>
              <a:t>DOS ENTRADAS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lang="es-ES" sz="1150" b="1" i="0">
                <a:solidFill>
                  <a:srgbClr val="2B2B33"/>
                </a:solidFill>
              </a:rPr>
              <a:t>HTTP</a:t>
            </a:r>
          </a:p>
          <a:p>
            <a:pPr algn="ctr"/>
            <a:r>
              <a:rPr lang="es-ES" sz="1150" b="0" i="0">
                <a:solidFill>
                  <a:srgbClr val="2B2B33"/>
                </a:solidFill>
              </a:rPr>
              <a:t>POST /api/pagos · GET /api/pagos/{id}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85032" y="2468880"/>
            <a:ext cx="749808" cy="0"/>
          </a:xfrm>
          <a:prstGeom prst="line">
            <a:avLst/>
          </a:prstGeom>
          <a:ln w="2857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338328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lang="es-ES" sz="1150" b="1" i="0">
                <a:solidFill>
                  <a:srgbClr val="2B2B33"/>
                </a:solidFill>
              </a:rPr>
              <a:t>Bus de eventos</a:t>
            </a:r>
          </a:p>
          <a:p>
            <a:pPr algn="ctr"/>
            <a:r>
              <a:rPr lang="es-ES" sz="1150" b="0" i="0">
                <a:solidFill>
                  <a:srgbClr val="2B2B33"/>
                </a:solidFill>
              </a:rPr>
              <a:t>PagoDeSancionRechazadoV1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85032" y="3886200"/>
            <a:ext cx="749808" cy="0"/>
          </a:xfrm>
          <a:prstGeom prst="line">
            <a:avLst/>
          </a:prstGeom>
          <a:ln w="2857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66760" y="132588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1100" b="1" i="0">
                <a:solidFill>
                  <a:srgbClr val="D6006F"/>
                </a:solidFill>
              </a:rPr>
              <a:t>CUATRO SALIDAS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26679" y="2011680"/>
            <a:ext cx="795529" cy="0"/>
          </a:xfrm>
          <a:prstGeom prst="line">
            <a:avLst/>
          </a:prstGeom>
          <a:ln w="28575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49640" y="164592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00" b="1" i="0">
                <a:solidFill>
                  <a:srgbClr val="2B2B33"/>
                </a:solidFill>
              </a:rPr>
              <a:t>Base de datos JSON</a:t>
            </a:r>
          </a:p>
          <a:p>
            <a:pPr algn="ctr"/>
            <a:r>
              <a:rPr lang="es-ES" sz="1100" b="0" i="0">
                <a:solidFill>
                  <a:srgbClr val="2B2B33"/>
                </a:solidFill>
              </a:rPr>
              <a:t>repositorio y consecutivo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2880360"/>
            <a:ext cx="795529" cy="0"/>
          </a:xfrm>
          <a:prstGeom prst="line">
            <a:avLst/>
          </a:prstGeom>
          <a:ln w="28575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251460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00" b="1" i="0">
                <a:solidFill>
                  <a:srgbClr val="2B2B33"/>
                </a:solidFill>
              </a:rPr>
              <a:t>Sanciones por HTTP</a:t>
            </a:r>
          </a:p>
          <a:p>
            <a:pPr algn="ctr"/>
            <a:r>
              <a:rPr lang="es-ES" sz="1100" b="0" i="0">
                <a:solidFill>
                  <a:srgbClr val="2B2B33"/>
                </a:solidFill>
              </a:rPr>
              <a:t>capa anticorrupción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26679" y="3749040"/>
            <a:ext cx="795529" cy="0"/>
          </a:xfrm>
          <a:prstGeom prst="line">
            <a:avLst/>
          </a:prstGeom>
          <a:ln w="28575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49640" y="338328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00" b="1" i="0">
                <a:solidFill>
                  <a:srgbClr val="2B2B33"/>
                </a:solidFill>
              </a:rPr>
              <a:t>Pasarela FakePay</a:t>
            </a:r>
          </a:p>
          <a:p>
            <a:pPr algn="ctr"/>
            <a:r>
              <a:rPr lang="es-ES" sz="1100" b="0" i="0">
                <a:solidFill>
                  <a:srgbClr val="2B2B33"/>
                </a:solidFill>
              </a:rPr>
              <a:t>SDK de terceros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26679" y="4617720"/>
            <a:ext cx="795529" cy="0"/>
          </a:xfrm>
          <a:prstGeom prst="line">
            <a:avLst/>
          </a:prstGeom>
          <a:ln w="28575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49640" y="4251959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00" b="1" i="0">
                <a:solidFill>
                  <a:srgbClr val="2B2B33"/>
                </a:solidFill>
              </a:rPr>
              <a:t>Canales de eventos</a:t>
            </a:r>
          </a:p>
          <a:p>
            <a:pPr algn="ctr"/>
            <a:r>
              <a:rPr lang="es-ES" sz="1100" b="0" i="0">
                <a:solidFill>
                  <a:srgbClr val="2B2B33"/>
                </a:solidFill>
              </a:rPr>
              <a:t>bus, auditoría, buzón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En Clean, la capa anticorrupción y el adaptador de la pasarela quedan mezclados dentro de </a:t>
            </a:r>
            <a:r>
              <a:rPr lang="es-ES" sz="1150" b="1" i="0">
                <a:solidFill>
                  <a:srgbClr val="7A2FBF"/>
                </a:solidFill>
              </a:rPr>
              <a:t>Pagos.Infrastructure</a:t>
            </a:r>
            <a:r>
              <a:rPr lang="es-ES" sz="1150" b="0" i="0">
                <a:solidFill>
                  <a:srgbClr val="2B2B33"/>
                </a:solidFill>
              </a:rPr>
              <a:t>. En hexagonal, cada uno es un </a:t>
            </a:r>
            <a:r>
              <a:rPr lang="es-ES" sz="1150" b="1" i="0">
                <a:solidFill>
                  <a:srgbClr val="2B2B33"/>
                </a:solidFill>
              </a:rPr>
              <a:t>adaptador de salida con nombre propio</a:t>
            </a:r>
            <a:r>
              <a:rPr lang="es-ES" sz="1150" b="0" i="0">
                <a:solidFill>
                  <a:srgbClr val="2B2B33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1 · LA DECISIÓN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Por qué no Sanciones ni Licencias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40680" cy="3611880"/>
          </a:xfrm>
          <a:prstGeom prst="roundRect">
            <a:avLst>
              <a:gd name="adj" fmla="val 3544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713232" y="15179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499616"/>
            <a:ext cx="45537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Sanciones: su complejidad está adentro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75104"/>
            <a:ext cx="50749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b="0" i="0">
                <a:solidFill>
                  <a:srgbClr val="2B2B33"/>
                </a:solidFill>
              </a:rPr>
              <a:t>Tiene el dominio más rico: apelaciones, descuentos por pronto pago, seis reglas y la decisión de </a:t>
            </a:r>
            <a:r>
              <a:rPr lang="es-ES" sz="1250" b="1" i="0">
                <a:solidFill>
                  <a:srgbClr val="D6006F"/>
                </a:solidFill>
              </a:rPr>
              <a:t>RecibirPago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b="0" i="0">
                <a:solidFill>
                  <a:srgbClr val="2B2B33"/>
                </a:solidFill>
              </a:rPr>
              <a:t>La hexagonal no dice nada sobre el interior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b="0" i="0">
                <a:solidFill>
                  <a:srgbClr val="2B2B33"/>
                </a:solidFill>
              </a:rPr>
              <a:t>La separación </a:t>
            </a:r>
            <a:r>
              <a:rPr lang="es-ES" sz="1250" b="1" i="0">
                <a:solidFill>
                  <a:srgbClr val="2B2B33"/>
                </a:solidFill>
              </a:rPr>
              <a:t>Domain / Application</a:t>
            </a:r>
            <a:r>
              <a:rPr lang="es-ES" sz="1250" b="0" i="0">
                <a:solidFill>
                  <a:srgbClr val="2B2B33"/>
                </a:solidFill>
              </a:rPr>
              <a:t> de Clean le aporta más orden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b="0" i="0">
                <a:solidFill>
                  <a:srgbClr val="2B2B33"/>
                </a:solidFill>
              </a:rPr>
              <a:t>Pasarla a hexagonal sería casi solo renombrar carpetas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40680" cy="3611880"/>
          </a:xfrm>
          <a:prstGeom prst="roundRect">
            <a:avLst>
              <a:gd name="adj" fmla="val 3544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Hexagon 8"/>
          <p:cNvSpPr/>
          <p:nvPr/>
        </p:nvSpPr>
        <p:spPr>
          <a:xfrm>
            <a:off x="6382512" y="1517904"/>
            <a:ext cx="457200" cy="397764"/>
          </a:xfrm>
          <a:prstGeom prst="hexagon">
            <a:avLst/>
          </a:prstGeom>
          <a:solidFill>
            <a:srgbClr val="D96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7728" y="1499616"/>
            <a:ext cx="45537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9650A"/>
                </a:solidFill>
              </a:rPr>
              <a:t>Licencias: está en el 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75104"/>
            <a:ext cx="50749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b="0" i="0">
                <a:solidFill>
                  <a:srgbClr val="2B2B33"/>
                </a:solidFill>
              </a:rPr>
              <a:t>Tiene dos entradas: HTTP y el evento </a:t>
            </a:r>
            <a:r>
              <a:rPr lang="es-ES" sz="1250" b="1" i="0">
                <a:solidFill>
                  <a:srgbClr val="D9650A"/>
                </a:solidFill>
              </a:rPr>
              <a:t>SancionPagadaV1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b="0" i="0">
                <a:solidFill>
                  <a:srgbClr val="2B2B33"/>
                </a:solidFill>
              </a:rPr>
              <a:t>Publica por un webhook al RUNT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b="0" i="0">
                <a:solidFill>
                  <a:srgbClr val="2B2B33"/>
                </a:solidFill>
              </a:rPr>
              <a:t>Pero </a:t>
            </a:r>
            <a:r>
              <a:rPr lang="es-ES" sz="1250" b="1" i="0">
                <a:solidFill>
                  <a:srgbClr val="2B2B33"/>
                </a:solidFill>
              </a:rPr>
              <a:t>no llama a nadie por HTTP</a:t>
            </a:r>
            <a:r>
              <a:rPr lang="es-ES" sz="1250" b="0" i="0">
                <a:solidFill>
                  <a:srgbClr val="2B2B33"/>
                </a:solidFill>
              </a:rPr>
              <a:t> ni usa servicios de terceros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b="0" i="0">
                <a:solidFill>
                  <a:srgbClr val="2B2B33"/>
                </a:solidFill>
              </a:rPr>
              <a:t>El cambio funcionaría igual de bien, pero se notaría poco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No es que a ellos les convenga Clean: es que en Pagos la diferencia </a:t>
            </a:r>
            <a:r>
              <a:rPr lang="es-ES" sz="1150" b="1" i="0">
                <a:solidFill>
                  <a:srgbClr val="2B2B33"/>
                </a:solidFill>
              </a:rPr>
              <a:t>se ve más</a:t>
            </a:r>
            <a:r>
              <a:rPr lang="es-ES" sz="1150" b="0" i="0">
                <a:solidFill>
                  <a:srgbClr val="2B2B33"/>
                </a:solidFill>
              </a:rPr>
              <a:t>, y eso la hace mejor para enseñar.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1 · LA DECISIÓN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Lo que hay que pesar antes de mezclar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40680" cy="457200"/>
          </a:xfrm>
          <a:prstGeom prst="roundRect">
            <a:avLst>
              <a:gd name="adj" fmla="val 24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A favor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440680" cy="3063240"/>
          </a:xfrm>
          <a:prstGeom prst="roundRect">
            <a:avLst>
              <a:gd name="adj" fmla="val 4179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>
            <a:off x="713232" y="2066544"/>
            <a:ext cx="457200" cy="397764"/>
          </a:xfrm>
          <a:prstGeom prst="hexag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048256"/>
            <a:ext cx="45537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1E8E5A"/>
                </a:solidFill>
              </a:rPr>
              <a:t>Cada microservicio es autónomo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23744"/>
            <a:ext cx="50749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b="0" i="0">
                <a:solidFill>
                  <a:srgbClr val="2B2B33"/>
                </a:solidFill>
              </a:rPr>
              <a:t>Nada impide que tengan arquitecturas internas distintas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b="0" i="0">
                <a:solidFill>
                  <a:srgbClr val="2B2B33"/>
                </a:solidFill>
              </a:rPr>
              <a:t>Es una de las ventajas que se atribuyen a los microservicios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b="0" i="0">
                <a:solidFill>
                  <a:srgbClr val="2B2B33"/>
                </a:solidFill>
              </a:rPr>
              <a:t>Pagos ya tiene sus puertos y adaptadores: el cambio es de organización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40680" cy="457200"/>
          </a:xfrm>
          <a:prstGeom prst="roundRect">
            <a:avLst>
              <a:gd name="adj" fmla="val 24000"/>
            </a:avLst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En contra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Hexagon 10"/>
          <p:cNvSpPr/>
          <p:nvPr/>
        </p:nvSpPr>
        <p:spPr>
          <a:xfrm>
            <a:off x="6355080" y="2148840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2024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BuildingBlocks está cortado por capas de Clean</a:t>
            </a:r>
          </a:p>
          <a:p>
            <a:pPr algn="l"/>
            <a:r>
              <a:rPr lang="es-ES" sz="1150" b="0" i="0">
                <a:solidFill>
                  <a:srgbClr val="2B2B33"/>
                </a:solidFill>
              </a:rPr>
              <a:t>Los proyectos de Pagos ya no calzan uno a uno con los bloques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7180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Hexagon 13"/>
          <p:cNvSpPr/>
          <p:nvPr/>
        </p:nvSpPr>
        <p:spPr>
          <a:xfrm>
            <a:off x="6355080" y="3200400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9718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Costo de lectura</a:t>
            </a:r>
          </a:p>
          <a:p>
            <a:pPr algn="l"/>
            <a:r>
              <a:rPr lang="es-ES" sz="1150" b="0" i="0">
                <a:solidFill>
                  <a:srgbClr val="2B2B33"/>
                </a:solidFill>
              </a:rPr>
              <a:t>Quien pase de Sanciones a Pagos cambia de mapa mental para el mismo diseño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Hexagon 16"/>
          <p:cNvSpPr/>
          <p:nvPr/>
        </p:nvSpPr>
        <p:spPr>
          <a:xfrm>
            <a:off x="6355080" y="4251960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02336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Poca ganancia técnica</a:t>
            </a:r>
          </a:p>
          <a:p>
            <a:pPr algn="l"/>
            <a:r>
              <a:rPr lang="es-ES" sz="1150" b="0" i="0">
                <a:solidFill>
                  <a:srgbClr val="2B2B33"/>
                </a:solidFill>
              </a:rPr>
              <a:t>Pagos no queda más desacoplado ni más fácil de probar de lo que ya está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Para producción</a:t>
            </a:r>
            <a:r>
              <a:rPr lang="es-ES" sz="1150" b="0" i="0">
                <a:solidFill>
                  <a:srgbClr val="2B2B33"/>
                </a:solidFill>
              </a:rPr>
              <a:t>, dejaría los tres iguales: la consistencia vale más que el matiz. </a:t>
            </a:r>
            <a:r>
              <a:rPr lang="es-ES" sz="1150" b="1" i="0">
                <a:solidFill>
                  <a:srgbClr val="2B2B33"/>
                </a:solidFill>
              </a:rPr>
              <a:t>Para enseñar</a:t>
            </a:r>
            <a:r>
              <a:rPr lang="es-ES" sz="1150" b="0" i="0">
                <a:solidFill>
                  <a:srgbClr val="2B2B33"/>
                </a:solidFill>
              </a:rPr>
              <a:t>, convertir solo Pagos es una buena decisión.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1 · LA DECISIÓN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Decisión: solo Pagos, y con propósito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109960" cy="1371600"/>
          </a:xfrm>
          <a:prstGeom prst="roundRect">
            <a:avLst>
              <a:gd name="adj" fmla="val 10666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4698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lang="es-ES" sz="1600" b="1" i="0">
                <a:solidFill>
                  <a:srgbClr val="FFFFFF"/>
                </a:solidFill>
              </a:rPr>
              <a:t>La lección:</a:t>
            </a:r>
            <a:r>
              <a:rPr lang="es-ES" sz="1600" b="0" i="0">
                <a:solidFill>
                  <a:srgbClr val="FFFFFF"/>
                </a:solidFill>
              </a:rPr>
              <a:t> el mismo sistema, con las dos arquitecturas lado a lado.</a:t>
            </a:r>
          </a:p>
          <a:p>
            <a:pPr algn="l">
              <a:spcAft>
                <a:spcPts val="800"/>
              </a:spcAft>
            </a:pPr>
            <a:r>
              <a:rPr lang="es-ES" sz="1600" b="0" i="0">
                <a:solidFill>
                  <a:srgbClr val="FFFFFF"/>
                </a:solidFill>
              </a:rPr>
              <a:t>Al reorganizar la frontera de Pagos, </a:t>
            </a:r>
            <a:r>
              <a:rPr lang="es-ES" sz="1600" b="1" i="0">
                <a:solidFill>
                  <a:srgbClr val="FFFFFF"/>
                </a:solidFill>
              </a:rPr>
              <a:t>su dominio no cambia ni una línea</a:t>
            </a:r>
            <a:r>
              <a:rPr lang="es-ES" sz="1600" b="0" i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3520440" cy="2377440"/>
          </a:xfrm>
          <a:prstGeom prst="roundRect">
            <a:avLst>
              <a:gd name="adj" fmla="val 5384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Hexagon 6"/>
          <p:cNvSpPr/>
          <p:nvPr/>
        </p:nvSpPr>
        <p:spPr>
          <a:xfrm>
            <a:off x="713232" y="31181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099816"/>
            <a:ext cx="263347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No tocar BuildingBlocks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75304"/>
            <a:ext cx="315468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50" b="0" i="0">
                <a:solidFill>
                  <a:srgbClr val="2B2B33"/>
                </a:solidFill>
              </a:rPr>
              <a:t>Sigue siendo quien fija las reglas de juego. Pagos lo usa igual que hoy.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971800"/>
            <a:ext cx="3520440" cy="2377440"/>
          </a:xfrm>
          <a:prstGeom prst="roundRect">
            <a:avLst>
              <a:gd name="adj" fmla="val 5384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Hexagon 10"/>
          <p:cNvSpPr/>
          <p:nvPr/>
        </p:nvSpPr>
        <p:spPr>
          <a:xfrm>
            <a:off x="4507992" y="31181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099816"/>
            <a:ext cx="263347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Mezcla declarada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75304"/>
            <a:ext cx="315468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50" b="0" i="0">
                <a:solidFill>
                  <a:srgbClr val="2B2B33"/>
                </a:solidFill>
              </a:rPr>
              <a:t>Dejar explícito que la mezcla es deliberada y con fin didáctico, no una recomendación general.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971800"/>
            <a:ext cx="3520440" cy="2377440"/>
          </a:xfrm>
          <a:prstGeom prst="roundRect">
            <a:avLst>
              <a:gd name="adj" fmla="val 5384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>
            <a:off x="8302752" y="31181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3099816"/>
            <a:ext cx="263347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Mismas pruebas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575304"/>
            <a:ext cx="3154680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50" b="0" i="0">
                <a:solidFill>
                  <a:srgbClr val="2B2B33"/>
                </a:solidFill>
              </a:rPr>
              <a:t>Las pruebas de dominio de Pagos deben pasar sin cambios: es la evidencia de que solo se movió la frontera.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BuildingBlocks no se toca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109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300" b="0" i="0">
                <a:solidFill>
                  <a:srgbClr val="2B2B33"/>
                </a:solidFill>
              </a:rPr>
              <a:t>Ya cumple la regla de la hexagonal: el dominio no depende de nada y la aplicación declara puertos. Solo se </a:t>
            </a:r>
            <a:r>
              <a:rPr lang="es-ES" sz="1300" b="1" i="0">
                <a:solidFill>
                  <a:srgbClr val="2B2B33"/>
                </a:solidFill>
              </a:rPr>
              <a:t>lee</a:t>
            </a:r>
            <a:r>
              <a:rPr lang="es-ES" sz="1300" b="0" i="0">
                <a:solidFill>
                  <a:srgbClr val="2B2B33"/>
                </a:solidFill>
              </a:rPr>
              <a:t> distinto.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00" b="1" i="0">
                <a:solidFill>
                  <a:srgbClr val="2B2B33"/>
                </a:solidFill>
              </a:rPr>
              <a:t>BuildingBlocks.Domain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2171700"/>
            <a:ext cx="457200" cy="0"/>
          </a:xfrm>
          <a:prstGeom prst="line">
            <a:avLst/>
          </a:prstGeom>
          <a:ln w="2857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70832" y="1828800"/>
            <a:ext cx="3429000" cy="685800"/>
          </a:xfrm>
          <a:prstGeom prst="roundRect">
            <a:avLst>
              <a:gd name="adj" fmla="val 16000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00" b="1" i="0">
                <a:solidFill>
                  <a:srgbClr val="FFFFFF"/>
                </a:solidFill>
              </a:rPr>
              <a:t>Bases del núcleo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370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5F6368"/>
                </a:solidFill>
              </a:rPr>
              <a:t>Entity, AggregateRoot, Guard, reglas, Memento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00" b="1" i="0">
                <a:solidFill>
                  <a:srgbClr val="2B2B33"/>
                </a:solidFill>
              </a:rPr>
              <a:t>BuildingBlocks.Application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2994660"/>
            <a:ext cx="457200" cy="0"/>
          </a:xfrm>
          <a:prstGeom prst="line">
            <a:avLst/>
          </a:prstGeom>
          <a:ln w="2857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70832" y="2651760"/>
            <a:ext cx="3429000" cy="685800"/>
          </a:xfrm>
          <a:prstGeom prst="roundRect">
            <a:avLst>
              <a:gd name="adj" fmla="val 16000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00" b="1" i="0">
                <a:solidFill>
                  <a:srgbClr val="FFFFFF"/>
                </a:solidFill>
              </a:rPr>
              <a:t>Mecánica del núcleo y puertos genéricos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651760"/>
            <a:ext cx="370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5F6368"/>
                </a:solidFill>
              </a:rPr>
              <a:t>mediador, pipeline, IUnidadDeTrabajo, IClock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00" b="1" i="0">
                <a:solidFill>
                  <a:srgbClr val="2B2B33"/>
                </a:solidFill>
              </a:rPr>
              <a:t>BuildingBlocks.Infrastructure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86200" y="3817620"/>
            <a:ext cx="457200" cy="0"/>
          </a:xfrm>
          <a:prstGeom prst="line">
            <a:avLst/>
          </a:prstGeom>
          <a:ln w="2857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0832" y="3474720"/>
            <a:ext cx="3429000" cy="685800"/>
          </a:xfrm>
          <a:prstGeom prst="roundRect">
            <a:avLst>
              <a:gd name="adj" fmla="val 16000"/>
            </a:avLst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00" b="1" i="0">
                <a:solidFill>
                  <a:srgbClr val="FFFFFF"/>
                </a:solidFill>
              </a:rPr>
              <a:t>Adaptadores de salida genéricos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474720"/>
            <a:ext cx="370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5F6368"/>
                </a:solidFill>
              </a:rPr>
              <a:t>BD documental, outbox, canales, cliente HTTP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97680"/>
            <a:ext cx="3291840" cy="685800"/>
          </a:xfrm>
          <a:prstGeom prst="roundRect">
            <a:avLst>
              <a:gd name="adj" fmla="val 16000"/>
            </a:avLst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00" b="1" i="0">
                <a:solidFill>
                  <a:srgbClr val="2B2B33"/>
                </a:solidFill>
              </a:rPr>
              <a:t>BuildingBlocks.Api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86200" y="4640580"/>
            <a:ext cx="457200" cy="0"/>
          </a:xfrm>
          <a:prstGeom prst="line">
            <a:avLst/>
          </a:prstGeom>
          <a:ln w="2857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70832" y="4297680"/>
            <a:ext cx="3429000" cy="685800"/>
          </a:xfrm>
          <a:prstGeom prst="roundRect">
            <a:avLst>
              <a:gd name="adj" fmla="val 16000"/>
            </a:avLst>
          </a:prstGeom>
          <a:solidFill>
            <a:srgbClr val="9B5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00" b="1" i="0">
                <a:solidFill>
                  <a:srgbClr val="FFFFFF"/>
                </a:solidFill>
              </a:rPr>
              <a:t>Adaptadores de entrada genéricos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297680"/>
            <a:ext cx="37033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5F6368"/>
                </a:solidFill>
              </a:rPr>
              <a:t>servidor, enrutador, middlewares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Por qué no desconectar Pagos:</a:t>
            </a:r>
            <a:r>
              <a:rPr lang="es-ES" sz="1150" b="0" i="0">
                <a:solidFill>
                  <a:srgbClr val="2B2B33"/>
                </a:solidFill>
              </a:rPr>
              <a:t> habría que reescribir outbox, inbox, consumidor idempotente, pipeline y errores, y seguiría atado al broker. Y el arquitecto perdería el control de las reglas.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De cuatro capas a núcleo y adaptadores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1" i="0">
                <a:solidFill>
                  <a:srgbClr val="5F6368"/>
                </a:solidFill>
              </a:rPr>
              <a:t>HOY · 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2280" y="1325880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1" i="0">
                <a:solidFill>
                  <a:srgbClr val="7A2FBF"/>
                </a:solidFill>
              </a:rPr>
              <a:t>PROPUESTA · HEXAGONAL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931920" cy="530352"/>
          </a:xfrm>
          <a:prstGeom prst="roundRect">
            <a:avLst>
              <a:gd name="adj" fmla="val 20689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50" b="1" i="0">
                <a:solidFill>
                  <a:srgbClr val="2B2B33"/>
                </a:solidFill>
              </a:rPr>
              <a:t>Pagos.Api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04288"/>
            <a:ext cx="3931920" cy="530352"/>
          </a:xfrm>
          <a:prstGeom prst="roundRect">
            <a:avLst>
              <a:gd name="adj" fmla="val 20689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50" b="1" i="0">
                <a:solidFill>
                  <a:srgbClr val="2B2B33"/>
                </a:solidFill>
              </a:rPr>
              <a:t>Pagos.Infrastructure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62656"/>
            <a:ext cx="3931920" cy="530352"/>
          </a:xfrm>
          <a:prstGeom prst="roundRect">
            <a:avLst>
              <a:gd name="adj" fmla="val 20689"/>
            </a:avLst>
          </a:prstGeom>
          <a:solidFill>
            <a:srgbClr val="D9C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50" b="1" i="0">
                <a:solidFill>
                  <a:srgbClr val="2B2B33"/>
                </a:solidFill>
              </a:rPr>
              <a:t>Pagos.Application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21024"/>
            <a:ext cx="3931920" cy="530352"/>
          </a:xfrm>
          <a:prstGeom prst="roundRect">
            <a:avLst>
              <a:gd name="adj" fmla="val 20689"/>
            </a:avLst>
          </a:prstGeom>
          <a:solidFill>
            <a:srgbClr val="C9A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50" b="1" i="0">
                <a:solidFill>
                  <a:srgbClr val="2B2B33"/>
                </a:solidFill>
              </a:rPr>
              <a:t>Pagos.Domain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79392"/>
            <a:ext cx="3931920" cy="530352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12700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250" b="1" i="0">
                <a:solidFill>
                  <a:srgbClr val="2B2B33"/>
                </a:solidFill>
              </a:rPr>
              <a:t>Pagos.Contracts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645920"/>
            <a:ext cx="4846320" cy="530352"/>
          </a:xfrm>
          <a:prstGeom prst="roundRect">
            <a:avLst>
              <a:gd name="adj" fmla="val 20689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50" b="1" i="0">
                <a:solidFill>
                  <a:srgbClr val="2B2B33"/>
                </a:solidFill>
              </a:rPr>
              <a:t>Pagos.Host</a:t>
            </a:r>
            <a:r>
              <a:rPr lang="es-ES" sz="1150" b="0" i="0">
                <a:solidFill>
                  <a:srgbClr val="2B2B33"/>
                </a:solidFill>
              </a:rPr>
              <a:t> · composition root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2304288"/>
            <a:ext cx="4846320" cy="530352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50" b="1" i="0">
                <a:solidFill>
                  <a:srgbClr val="7A2FBF"/>
                </a:solidFill>
              </a:rPr>
              <a:t>Pagos.Adaptadores.Entrada</a:t>
            </a:r>
            <a:r>
              <a:rPr lang="es-ES" sz="1150" b="0" i="0">
                <a:solidFill>
                  <a:srgbClr val="7A2FBF"/>
                </a:solidFill>
              </a:rPr>
              <a:t> · HTTP y mensajería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962656"/>
            <a:ext cx="4846320" cy="530352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50" b="1" i="0">
                <a:solidFill>
                  <a:srgbClr val="D6006F"/>
                </a:solidFill>
              </a:rPr>
              <a:t>Pagos.Adaptadores.Salida</a:t>
            </a:r>
            <a:r>
              <a:rPr lang="es-ES" sz="1150" b="0" i="0">
                <a:solidFill>
                  <a:srgbClr val="D6006F"/>
                </a:solidFill>
              </a:rPr>
              <a:t> · persistencia, Sanciones, pasarela, eventos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621024"/>
            <a:ext cx="4846320" cy="530352"/>
          </a:xfrm>
          <a:prstGeom prst="roundRect">
            <a:avLst>
              <a:gd name="adj" fmla="val 20689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50" b="1" i="0">
                <a:solidFill>
                  <a:srgbClr val="FFFFFF"/>
                </a:solidFill>
              </a:rPr>
              <a:t>Pagos.Nucleo</a:t>
            </a:r>
            <a:r>
              <a:rPr lang="es-ES" sz="1150" b="0" i="0">
                <a:solidFill>
                  <a:srgbClr val="FFFFFF"/>
                </a:solidFill>
              </a:rPr>
              <a:t> · dominio, aplicación y puertos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4279392"/>
            <a:ext cx="4846320" cy="530352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19050">
            <a:solidFill>
              <a:srgbClr val="C9C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50" b="1" i="0">
                <a:solidFill>
                  <a:srgbClr val="2B2B33"/>
                </a:solidFill>
              </a:rPr>
              <a:t>Pagos.Contracts</a:t>
            </a:r>
            <a:r>
              <a:rPr lang="es-ES" sz="1150" b="0" i="0">
                <a:solidFill>
                  <a:srgbClr val="2B2B33"/>
                </a:solidFill>
              </a:rPr>
              <a:t> · igual que hoy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07992" y="1911095"/>
            <a:ext cx="2276856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07992" y="1911095"/>
            <a:ext cx="2276856" cy="658369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07992" y="2569464"/>
            <a:ext cx="2276856" cy="658368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07992" y="3227832"/>
            <a:ext cx="2276856" cy="658368"/>
          </a:xfrm>
          <a:prstGeom prst="line">
            <a:avLst/>
          </a:prstGeom>
          <a:ln w="1587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07992" y="3886200"/>
            <a:ext cx="2276856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07992" y="4544568"/>
            <a:ext cx="2276856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507992" y="2569464"/>
            <a:ext cx="2276856" cy="658368"/>
          </a:xfrm>
          <a:prstGeom prst="line">
            <a:avLst/>
          </a:prstGeom>
          <a:ln w="1587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07992" y="3227832"/>
            <a:ext cx="2276856" cy="0"/>
          </a:xfrm>
          <a:prstGeom prst="line">
            <a:avLst/>
          </a:prstGeom>
          <a:ln w="1587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Application se reparte: comandos, manejadores y puertos van al núcleo; el </a:t>
            </a:r>
            <a:r>
              <a:rPr lang="es-ES" sz="1150" b="1" i="0">
                <a:solidFill>
                  <a:srgbClr val="2B2B33"/>
                </a:solidFill>
              </a:rPr>
              <a:t>consumidor</a:t>
            </a:r>
            <a:r>
              <a:rPr lang="es-ES" sz="1150" b="0" i="0">
                <a:solidFill>
                  <a:srgbClr val="2B2B33"/>
                </a:solidFill>
              </a:rPr>
              <a:t> pasa a entrada y los </a:t>
            </a:r>
            <a:r>
              <a:rPr lang="es-ES" sz="1150" b="1" i="0">
                <a:solidFill>
                  <a:srgbClr val="2B2B33"/>
                </a:solidFill>
              </a:rPr>
              <a:t>traductores</a:t>
            </a:r>
            <a:r>
              <a:rPr lang="es-ES" sz="1150" b="0" i="0">
                <a:solidFill>
                  <a:srgbClr val="2B2B33"/>
                </a:solidFill>
              </a:rPr>
              <a:t>, a salida. Api se divide entre el Host y el adaptador HTTP.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La estructura propuesta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3258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000" b="1" i="0">
                <a:solidFill>
                  <a:srgbClr val="D6006F"/>
                </a:solidFill>
              </a:rPr>
              <a:t>Propuesta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19072"/>
            <a:ext cx="6035040" cy="4087368"/>
          </a:xfrm>
          <a:prstGeom prst="roundRect">
            <a:avLst>
              <a:gd name="adj" fmla="val 2237"/>
            </a:avLst>
          </a:prstGeom>
          <a:solidFill>
            <a:srgbClr val="23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src/Pagos/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├─ </a:t>
            </a:r>
            <a:r>
              <a:rPr lang="en-US" sz="1200" noProof="1">
                <a:solidFill>
                  <a:srgbClr val="C9A6EC"/>
                </a:solidFill>
                <a:latin typeface="Courier New"/>
              </a:rPr>
              <a:t>Pagos.Nucleo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/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├─ Dominio/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│  ├─ Pagos/          Pago, PagoId, NumeroRecibo…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│  │  ├─ Estados/     EstadoDePago y sus 4 estados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│  │  ├─ Eventos/     PagoIniciado, PagoConfirmado…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│  │  └─ Reglas/      las 6 reglas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│  ├─ Obligaciones/   ObligacionPorPagar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│  └─ Servicios/      ServicioDeCobro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├─ Aplicacion/        manejadores, validadores,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│                     observadores, DTO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└─ Puertos/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   ├─ Entrada/        comandos y consulta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   └─ Salida/         las 4 interfaces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├─ </a:t>
            </a:r>
            <a:r>
              <a:rPr lang="en-US" sz="1200" noProof="1">
                <a:solidFill>
                  <a:srgbClr val="C9A6EC"/>
                </a:solidFill>
                <a:latin typeface="Courier New"/>
              </a:rPr>
              <a:t>Pagos.Adaptadores.Entrada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/   Http/, Mensajeria/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├─ </a:t>
            </a:r>
            <a:r>
              <a:rPr lang="en-US" sz="1200" noProof="1">
                <a:solidFill>
                  <a:srgbClr val="C9A6EC"/>
                </a:solidFill>
                <a:latin typeface="Courier New"/>
              </a:rPr>
              <a:t>Pagos.Adaptadores.Salida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/    Persistencia/, Sanciones/,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│                               Pasarela/, Eventos/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├─ </a:t>
            </a:r>
            <a:r>
              <a:rPr lang="en-US" sz="1200" noProof="1">
                <a:solidFill>
                  <a:srgbClr val="C9A6EC"/>
                </a:solidFill>
                <a:latin typeface="Courier New"/>
              </a:rPr>
              <a:t>Pagos.Host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/                  MicroservicioPagos.cs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└─ </a:t>
            </a:r>
            <a:r>
              <a:rPr lang="en-US" sz="1200" noProof="1">
                <a:solidFill>
                  <a:srgbClr val="C9A6EC"/>
                </a:solidFill>
                <a:latin typeface="Courier New"/>
              </a:rPr>
              <a:t>Pagos.Contracts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719072"/>
            <a:ext cx="4846320" cy="1234440"/>
          </a:xfrm>
          <a:prstGeom prst="roundRect">
            <a:avLst>
              <a:gd name="adj" fmla="val 10370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95160" y="1847088"/>
            <a:ext cx="452627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Pagos.Nucleo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322576"/>
            <a:ext cx="44805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Todo lo de adentro: dominio, casos de uso y los contratos con el exterior (puertos).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3108960"/>
            <a:ext cx="4846320" cy="1234440"/>
          </a:xfrm>
          <a:prstGeom prst="roundRect">
            <a:avLst>
              <a:gd name="adj" fmla="val 1037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95160" y="3236976"/>
            <a:ext cx="452627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Adaptadores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3712463"/>
            <a:ext cx="44805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Dos proyectos, uno por lado: lo que conduce a Pagos y lo que Pagos conduce.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4498848"/>
            <a:ext cx="4846320" cy="1307592"/>
          </a:xfrm>
          <a:prstGeom prst="roundRect">
            <a:avLst>
              <a:gd name="adj" fmla="val 9790"/>
            </a:avLst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4626864"/>
            <a:ext cx="452627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3B4252"/>
                </a:solidFill>
              </a:rPr>
              <a:t>Host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5102352"/>
            <a:ext cx="4480559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Solo arranca y conecta. Reemplaza al composition root que hoy vive en </a:t>
            </a:r>
            <a:r>
              <a:rPr lang="es-ES" sz="1150" b="1" i="0">
                <a:solidFill>
                  <a:srgbClr val="3B4252"/>
                </a:solidFill>
              </a:rPr>
              <a:t>Pagos.Api</a:t>
            </a:r>
            <a:r>
              <a:rPr lang="es-ES" sz="1150" b="0" i="0">
                <a:solidFill>
                  <a:srgbClr val="2B2B33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Las nuevas dependencias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325880"/>
            <a:ext cx="3749039" cy="594360"/>
          </a:xfrm>
          <a:prstGeom prst="roundRect">
            <a:avLst>
              <a:gd name="adj" fmla="val 18461"/>
            </a:avLst>
          </a:prstGeom>
          <a:solidFill>
            <a:srgbClr val="3B4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300" b="1" i="0">
                <a:solidFill>
                  <a:srgbClr val="FFFFFF"/>
                </a:solidFill>
              </a:rPr>
              <a:t>Pagos.Host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6616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2540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50" b="1" i="0">
                <a:solidFill>
                  <a:srgbClr val="7A2FBF"/>
                </a:solidFill>
              </a:rPr>
              <a:t>Pagos.Adaptadores.Entrada</a:t>
            </a:r>
          </a:p>
          <a:p>
            <a:pPr algn="ctr"/>
            <a:r>
              <a:rPr lang="es-ES" sz="1150" b="0" i="0">
                <a:solidFill>
                  <a:srgbClr val="7A2FBF"/>
                </a:solidFill>
              </a:rPr>
              <a:t>Http · Mensajeria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2423160"/>
            <a:ext cx="3566160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2540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00" b="1" i="0">
                <a:solidFill>
                  <a:srgbClr val="D6006F"/>
                </a:solidFill>
              </a:rPr>
              <a:t>Pagos.Adaptadores.Salida</a:t>
            </a:r>
          </a:p>
          <a:p>
            <a:pPr algn="ctr"/>
            <a:r>
              <a:rPr lang="es-ES" sz="1100" b="0" i="0">
                <a:solidFill>
                  <a:srgbClr val="D6006F"/>
                </a:solidFill>
              </a:rPr>
              <a:t>Persistencia · Sanciones · Pasarela · Eventos</a:t>
            </a:r>
          </a:p>
        </p:txBody>
      </p:sp>
      <p:sp>
        <p:nvSpPr>
          <p:cNvPr id="7" name="Hexagon 6"/>
          <p:cNvSpPr/>
          <p:nvPr/>
        </p:nvSpPr>
        <p:spPr>
          <a:xfrm>
            <a:off x="4206240" y="3520440"/>
            <a:ext cx="3749039" cy="105156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500" b="1" i="0">
                <a:solidFill>
                  <a:srgbClr val="FFFFFF"/>
                </a:solidFill>
              </a:rPr>
              <a:t>Pagos.Nucleo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377440" y="1938528"/>
            <a:ext cx="2377440" cy="457200"/>
          </a:xfrm>
          <a:prstGeom prst="line">
            <a:avLst/>
          </a:prstGeom>
          <a:ln w="22225">
            <a:solidFill>
              <a:srgbClr val="3B42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1938528"/>
            <a:ext cx="2468880" cy="457200"/>
          </a:xfrm>
          <a:prstGeom prst="line">
            <a:avLst/>
          </a:prstGeom>
          <a:ln w="22225">
            <a:solidFill>
              <a:srgbClr val="3B42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1938528"/>
            <a:ext cx="0" cy="1554480"/>
          </a:xfrm>
          <a:prstGeom prst="line">
            <a:avLst/>
          </a:prstGeom>
          <a:ln w="22225">
            <a:solidFill>
              <a:srgbClr val="3B42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3227832"/>
            <a:ext cx="1691640" cy="612648"/>
          </a:xfrm>
          <a:prstGeom prst="line">
            <a:avLst/>
          </a:prstGeom>
          <a:ln w="28575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726679" y="3227832"/>
            <a:ext cx="1783081" cy="612648"/>
          </a:xfrm>
          <a:prstGeom prst="line">
            <a:avLst/>
          </a:prstGeom>
          <a:ln w="28575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32918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950" b="1" i="0">
                <a:solidFill>
                  <a:srgbClr val="7A2FBF"/>
                </a:solidFill>
              </a:rPr>
              <a:t>BuildingBlocks.Api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59152" y="32918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950" b="1" i="0">
                <a:solidFill>
                  <a:srgbClr val="7A2FBF"/>
                </a:solidFill>
              </a:rPr>
              <a:t>BuildingBlocks.Application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3931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950" b="1" i="0">
                <a:solidFill>
                  <a:srgbClr val="7A2FBF"/>
                </a:solidFill>
              </a:rPr>
              <a:t>Sanciones.Contracts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918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950" b="1" i="0">
                <a:solidFill>
                  <a:srgbClr val="D6006F"/>
                </a:solidFill>
              </a:rPr>
              <a:t>BuildingBlocks.Infrastructure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02952" y="32918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950" b="1" i="0">
                <a:solidFill>
                  <a:srgbClr val="D6006F"/>
                </a:solidFill>
              </a:rPr>
              <a:t>Pagos.Contracts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63931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950" b="1" i="0">
                <a:solidFill>
                  <a:srgbClr val="D6006F"/>
                </a:solidFill>
              </a:rPr>
              <a:t>Sanciones.Contracts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6634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000" b="1" i="0">
                <a:solidFill>
                  <a:srgbClr val="7A2FBF"/>
                </a:solidFill>
              </a:rPr>
              <a:t>BuildingBlocks.Domain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6634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000" b="1" i="0">
                <a:solidFill>
                  <a:srgbClr val="7A2FBF"/>
                </a:solidFill>
              </a:rPr>
              <a:t>BuildingBlocks.Application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La ganancia real:</a:t>
            </a:r>
            <a:r>
              <a:rPr lang="es-ES" sz="1150" b="0" i="0">
                <a:solidFill>
                  <a:srgbClr val="2B2B33"/>
                </a:solidFill>
              </a:rPr>
              <a:t> el núcleo depende solo de </a:t>
            </a:r>
            <a:r>
              <a:rPr lang="es-ES" sz="1150" b="1" i="0">
                <a:solidFill>
                  <a:srgbClr val="7A2FBF"/>
                </a:solidFill>
              </a:rPr>
              <a:t>BuildingBlocks.Domain</a:t>
            </a:r>
            <a:r>
              <a:rPr lang="es-ES" sz="1150" b="0" i="0">
                <a:solidFill>
                  <a:srgbClr val="2B2B33"/>
                </a:solidFill>
              </a:rPr>
              <a:t> y </a:t>
            </a:r>
            <a:r>
              <a:rPr lang="es-ES" sz="1150" b="1" i="0">
                <a:solidFill>
                  <a:srgbClr val="7A2FBF"/>
                </a:solidFill>
              </a:rPr>
              <a:t>.Application</a:t>
            </a:r>
            <a:r>
              <a:rPr lang="es-ES" sz="1150" b="0" i="0">
                <a:solidFill>
                  <a:srgbClr val="2B2B33"/>
                </a:solidFill>
              </a:rPr>
              <a:t>. Ya </a:t>
            </a:r>
            <a:r>
              <a:rPr lang="es-ES" sz="1150" b="1" i="0">
                <a:solidFill>
                  <a:srgbClr val="2B2B33"/>
                </a:solidFill>
              </a:rPr>
              <a:t>no conoce ningún contrato</a:t>
            </a:r>
            <a:r>
              <a:rPr lang="es-ES" sz="1150" b="0" i="0">
                <a:solidFill>
                  <a:srgbClr val="2B2B33"/>
                </a:solidFill>
              </a:rPr>
              <a:t>, ni el propio ni el de Sanciones: eso queda en los adaptadores.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El hexágono de Pagos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00" b="1" i="0">
                <a:solidFill>
                  <a:srgbClr val="7A2FBF"/>
                </a:solidFill>
              </a:rPr>
              <a:t>ENTRADA · CONDUCEN A PAGOS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0" y="13258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ES" sz="1100" b="1" i="0">
                <a:solidFill>
                  <a:srgbClr val="D6006F"/>
                </a:solidFill>
              </a:rPr>
              <a:t>SALIDA · PAGOS LOS CONDUCE</a:t>
            </a:r>
          </a:p>
        </p:txBody>
      </p:sp>
      <p:sp>
        <p:nvSpPr>
          <p:cNvPr id="6" name="Hexagon 5"/>
          <p:cNvSpPr/>
          <p:nvPr/>
        </p:nvSpPr>
        <p:spPr>
          <a:xfrm>
            <a:off x="3886200" y="1691640"/>
            <a:ext cx="4434840" cy="3337560"/>
          </a:xfrm>
          <a:prstGeom prst="hexagon">
            <a:avLst/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Hexagon 6"/>
          <p:cNvSpPr/>
          <p:nvPr/>
        </p:nvSpPr>
        <p:spPr>
          <a:xfrm>
            <a:off x="4937760" y="2468880"/>
            <a:ext cx="2331720" cy="1783080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150" b="1" i="0">
                <a:solidFill>
                  <a:srgbClr val="FFFFFF"/>
                </a:solidFill>
              </a:rPr>
              <a:t>Núcleo</a:t>
            </a:r>
          </a:p>
          <a:p>
            <a:pPr algn="ctr"/>
            <a:r>
              <a:rPr lang="es-ES" sz="1150" b="0" i="0">
                <a:solidFill>
                  <a:srgbClr val="FFFFFF"/>
                </a:solidFill>
              </a:rPr>
              <a:t>Pago · ServicioDeCobro</a:t>
            </a:r>
          </a:p>
          <a:p>
            <a:pPr algn="ctr"/>
            <a:r>
              <a:rPr lang="es-ES" sz="1150" b="0" i="0">
                <a:solidFill>
                  <a:srgbClr val="FFFFFF"/>
                </a:solidFill>
              </a:rPr>
              <a:t>manejadores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43000" cy="731520"/>
          </a:xfrm>
          <a:prstGeom prst="roundRect">
            <a:avLst>
              <a:gd name="adj" fmla="val 15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1050" b="1" i="0">
                <a:solidFill>
                  <a:srgbClr val="2B2B33"/>
                </a:solidFill>
              </a:rPr>
              <a:t>Cliente HTTP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19072" y="2468879"/>
            <a:ext cx="219456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65960" y="2103120"/>
            <a:ext cx="1691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7A2FBF"/>
                </a:solidFill>
              </a:rPr>
              <a:t>Endpoints HTTP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85032" y="2468879"/>
            <a:ext cx="384048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96512" y="2221991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850" b="1" i="0">
                <a:solidFill>
                  <a:srgbClr val="FFFFFF"/>
                </a:solidFill>
              </a:rPr>
              <a:t>PagarObligacionComando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1143000" cy="731520"/>
          </a:xfrm>
          <a:prstGeom prst="roundRect">
            <a:avLst>
              <a:gd name="adj" fmla="val 15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1050" b="1" i="0">
                <a:solidFill>
                  <a:srgbClr val="2B2B33"/>
                </a:solidFill>
              </a:rPr>
              <a:t>Bus · Sanciones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19072" y="3931920"/>
            <a:ext cx="219456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965960" y="3566160"/>
            <a:ext cx="16916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A2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7A2FBF"/>
                </a:solidFill>
              </a:rPr>
              <a:t>Consumidor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85032" y="3931920"/>
            <a:ext cx="384048" cy="0"/>
          </a:xfrm>
          <a:prstGeom prst="line">
            <a:avLst/>
          </a:prstGeom>
          <a:ln w="25400">
            <a:solidFill>
              <a:srgbClr val="7A2F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96512" y="3685032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850" b="1" i="0">
                <a:solidFill>
                  <a:srgbClr val="FFFFFF"/>
                </a:solidFill>
              </a:rPr>
              <a:t>ReversarPagoComando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801368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850" b="1" i="0">
                <a:solidFill>
                  <a:srgbClr val="FFFFFF"/>
                </a:solidFill>
              </a:rPr>
              <a:t>IPagoRepository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02168" y="2029968"/>
            <a:ext cx="301752" cy="0"/>
          </a:xfrm>
          <a:prstGeom prst="line">
            <a:avLst/>
          </a:prstGeom>
          <a:ln w="25400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31352" y="1691640"/>
            <a:ext cx="17830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D6006F"/>
                </a:solidFill>
              </a:rPr>
              <a:t>Repositorio JSON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41864" y="2029968"/>
            <a:ext cx="192024" cy="0"/>
          </a:xfrm>
          <a:prstGeom prst="line">
            <a:avLst/>
          </a:prstGeom>
          <a:ln w="25400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561320" y="1691640"/>
            <a:ext cx="1097280" cy="676656"/>
          </a:xfrm>
          <a:prstGeom prst="roundRect">
            <a:avLst>
              <a:gd name="adj" fmla="val 16216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1050" b="1" i="0">
                <a:solidFill>
                  <a:srgbClr val="2B2B33"/>
                </a:solidFill>
              </a:rPr>
              <a:t>BD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265176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850" b="1" i="0">
                <a:solidFill>
                  <a:srgbClr val="FFFFFF"/>
                </a:solidFill>
              </a:rPr>
              <a:t>IConsultaDeObligaciones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02168" y="2880360"/>
            <a:ext cx="301752" cy="0"/>
          </a:xfrm>
          <a:prstGeom prst="line">
            <a:avLst/>
          </a:prstGeom>
          <a:ln w="25400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531352" y="2542032"/>
            <a:ext cx="17830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D6006F"/>
                </a:solidFill>
              </a:rPr>
              <a:t>ACL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341864" y="2880360"/>
            <a:ext cx="192024" cy="0"/>
          </a:xfrm>
          <a:prstGeom prst="line">
            <a:avLst/>
          </a:prstGeom>
          <a:ln w="25400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561320" y="2542032"/>
            <a:ext cx="1097280" cy="676656"/>
          </a:xfrm>
          <a:prstGeom prst="roundRect">
            <a:avLst>
              <a:gd name="adj" fmla="val 16216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1050" b="1" i="0">
                <a:solidFill>
                  <a:srgbClr val="2B2B33"/>
                </a:solidFill>
              </a:rPr>
              <a:t>Sanciones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502152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850" b="1" i="0">
                <a:solidFill>
                  <a:srgbClr val="FFFFFF"/>
                </a:solidFill>
              </a:rPr>
              <a:t>IPasarelaDePagos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02168" y="3730752"/>
            <a:ext cx="301752" cy="0"/>
          </a:xfrm>
          <a:prstGeom prst="line">
            <a:avLst/>
          </a:prstGeom>
          <a:ln w="25400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531352" y="3392424"/>
            <a:ext cx="17830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D6006F"/>
                </a:solidFill>
              </a:rPr>
              <a:t>Adaptador FakePay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341864" y="3730752"/>
            <a:ext cx="192024" cy="0"/>
          </a:xfrm>
          <a:prstGeom prst="line">
            <a:avLst/>
          </a:prstGeom>
          <a:ln w="25400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561320" y="3392424"/>
            <a:ext cx="1097280" cy="676656"/>
          </a:xfrm>
          <a:prstGeom prst="roundRect">
            <a:avLst>
              <a:gd name="adj" fmla="val 16216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1050" b="1" i="0">
                <a:solidFill>
                  <a:srgbClr val="2B2B33"/>
                </a:solidFill>
              </a:rPr>
              <a:t>FakePay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352544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es-ES" sz="850" b="1" i="0">
                <a:solidFill>
                  <a:srgbClr val="FFFFFF"/>
                </a:solidFill>
              </a:rPr>
              <a:t>traductores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02168" y="4581144"/>
            <a:ext cx="301752" cy="0"/>
          </a:xfrm>
          <a:prstGeom prst="line">
            <a:avLst/>
          </a:prstGeom>
          <a:ln w="25400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531352" y="4242816"/>
            <a:ext cx="17830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9050">
            <a:solidFill>
              <a:srgbClr val="D60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lang="es-ES" sz="1100" b="1" i="0">
                <a:solidFill>
                  <a:srgbClr val="D6006F"/>
                </a:solidFill>
              </a:rPr>
              <a:t>Canales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341864" y="4581144"/>
            <a:ext cx="192024" cy="0"/>
          </a:xfrm>
          <a:prstGeom prst="line">
            <a:avLst/>
          </a:prstGeom>
          <a:ln w="25400">
            <a:solidFill>
              <a:srgbClr val="D600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561320" y="4242816"/>
            <a:ext cx="1097280" cy="676656"/>
          </a:xfrm>
          <a:prstGeom prst="roundRect">
            <a:avLst>
              <a:gd name="adj" fmla="val 16216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1050" b="1" i="0">
                <a:solidFill>
                  <a:srgbClr val="2B2B33"/>
                </a:solidFill>
              </a:rPr>
              <a:t>Bus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Dos adaptadores conducen a Pagos y cuatro son conducidos por él. El núcleo solo ve los puertos, nunca las tecnologías.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Núcleo · Dominio: no cambia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74620" cy="841248"/>
          </a:xfrm>
          <a:prstGeom prst="roundRect">
            <a:avLst>
              <a:gd name="adj" fmla="val 10869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24551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7A2FBF"/>
                </a:solidFill>
              </a:rPr>
              <a:t>Agregado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10512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Pago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0420" y="1371600"/>
            <a:ext cx="2674620" cy="2084832"/>
          </a:xfrm>
          <a:prstGeom prst="roundRect">
            <a:avLst>
              <a:gd name="adj" fmla="val 4385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0148" y="1444752"/>
            <a:ext cx="24551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7A2FBF"/>
                </a:solidFill>
              </a:rPr>
              <a:t>Estados ·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0148" y="1810512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EstadoDePago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0148" y="2121408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EstadoPendiente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0148" y="2432304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EstadoConfirmado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0148" y="2743200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EstadoRechazado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0148" y="3054096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EstadoReversado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71600"/>
            <a:ext cx="2674620" cy="1773936"/>
          </a:xfrm>
          <a:prstGeom prst="roundRect">
            <a:avLst>
              <a:gd name="adj" fmla="val 5154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1928" y="1444752"/>
            <a:ext cx="24551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7A2FBF"/>
                </a:solidFill>
              </a:rPr>
              <a:t>Value objects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1810512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PagoId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121408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NumeroRecibo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2432304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CorreoElectronico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2743200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ReferenciaObligacion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3980" y="1371600"/>
            <a:ext cx="2674620" cy="1773936"/>
          </a:xfrm>
          <a:prstGeom prst="roundRect">
            <a:avLst>
              <a:gd name="adj" fmla="val 5154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3708" y="1444752"/>
            <a:ext cx="24551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7A2FBF"/>
                </a:solidFill>
              </a:rPr>
              <a:t>Eventos de dominio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3708" y="1810512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PagoIniciado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3708" y="2121408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PagoConfirmado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3708" y="2432304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PagoRechazado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3708" y="2743200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PagoReversado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340864"/>
            <a:ext cx="2674620" cy="2395728"/>
          </a:xfrm>
          <a:prstGeom prst="roundRect">
            <a:avLst>
              <a:gd name="adj" fmla="val 3816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2414016"/>
            <a:ext cx="24551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7A2FBF"/>
                </a:solidFill>
              </a:rPr>
              <a:t>Reglas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2779776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PagoDebePermitirLaOperacion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090672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MontoDelPagoDebeSerPositivo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401568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ObligacionDebeExistir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712464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ObligacionDebeAdmitirPago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023360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MontoDebeCoincidirConLaObligacion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334256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NoDebeExistirOtroPagoActivo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273552"/>
            <a:ext cx="2674620" cy="1152144"/>
          </a:xfrm>
          <a:prstGeom prst="roundRect">
            <a:avLst>
              <a:gd name="adj" fmla="val 7936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81928" y="3346704"/>
            <a:ext cx="24551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7A2FBF"/>
                </a:solidFill>
              </a:rPr>
              <a:t>Servicio de dominio y su modelo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81928" y="3712464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ServicioDeCobro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1928" y="4023360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ObligacionPorPagar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83980" y="3273552"/>
            <a:ext cx="2674620" cy="841248"/>
          </a:xfrm>
          <a:prstGeom prst="roundRect">
            <a:avLst>
              <a:gd name="adj" fmla="val 10869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93708" y="3346704"/>
            <a:ext cx="24551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7A2FBF"/>
                </a:solidFill>
              </a:rPr>
              <a:t>Memento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3708" y="3712464"/>
            <a:ext cx="2455164" cy="256032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36576" rIns="27432" bIns="36576" rtlCol="0" anchor="ctr"/>
          <a:lstStyle/>
          <a:p>
            <a:pPr algn="ctr"/>
            <a:r>
              <a:rPr lang="es-ES" sz="950" b="0" i="0">
                <a:solidFill>
                  <a:srgbClr val="2B2B33"/>
                </a:solidFill>
              </a:rPr>
              <a:t>PagoMemento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Se mueve, no se reescribe:</a:t>
            </a:r>
            <a:r>
              <a:rPr lang="es-ES" sz="1150" b="0" i="0">
                <a:solidFill>
                  <a:srgbClr val="2B2B33"/>
                </a:solidFill>
              </a:rPr>
              <a:t> cambia el namespace (</a:t>
            </a:r>
            <a:r>
              <a:rPr lang="es-ES" sz="1150" b="1" i="0">
                <a:solidFill>
                  <a:srgbClr val="7A2FBF"/>
                </a:solidFill>
              </a:rPr>
              <a:t>Pagos.Domain</a:t>
            </a:r>
            <a:r>
              <a:rPr lang="es-ES" sz="1150" b="0" i="0">
                <a:solidFill>
                  <a:srgbClr val="2B2B33"/>
                </a:solidFill>
              </a:rPr>
              <a:t> → </a:t>
            </a:r>
            <a:r>
              <a:rPr lang="es-ES" sz="1150" b="1" i="0">
                <a:solidFill>
                  <a:srgbClr val="7A2FBF"/>
                </a:solidFill>
              </a:rPr>
              <a:t>Pagos.Nucleo.Dominio</a:t>
            </a:r>
            <a:r>
              <a:rPr lang="es-ES" sz="1150" b="0" i="0">
                <a:solidFill>
                  <a:srgbClr val="2B2B33"/>
                </a:solidFill>
              </a:rPr>
              <a:t>). Las 18 pruebas de dominio deben pasar igual.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Núcleo · Aplicación: los casos de uso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1691640"/>
          </a:xfrm>
          <a:prstGeom prst="roundRect">
            <a:avLst>
              <a:gd name="adj" fmla="val 7567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713232" y="15179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499616"/>
            <a:ext cx="45994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Manejadores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75104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00" b="0" i="0">
                <a:solidFill>
                  <a:srgbClr val="2B2B33"/>
                </a:solidFill>
              </a:rPr>
              <a:t>Uno por comando y consulta: pagar la obligación, reversar el pago y obtener el pago. Orquestan; no tienen reglas.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486400" cy="1691640"/>
          </a:xfrm>
          <a:prstGeom prst="roundRect">
            <a:avLst>
              <a:gd name="adj" fmla="val 7567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Hexagon 8"/>
          <p:cNvSpPr/>
          <p:nvPr/>
        </p:nvSpPr>
        <p:spPr>
          <a:xfrm>
            <a:off x="6336792" y="15179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8" y="1499616"/>
            <a:ext cx="45994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Validadores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75104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00" b="1" i="0">
                <a:solidFill>
                  <a:srgbClr val="7A2FBF"/>
                </a:solidFill>
              </a:rPr>
              <a:t>PagarObligacionValidador</a:t>
            </a:r>
            <a:r>
              <a:rPr lang="es-ES" sz="1200" b="0" i="0">
                <a:solidFill>
                  <a:srgbClr val="2B2B33"/>
                </a:solidFill>
              </a:rPr>
              <a:t> y </a:t>
            </a:r>
            <a:r>
              <a:rPr lang="es-ES" sz="1200" b="1" i="0">
                <a:solidFill>
                  <a:srgbClr val="7A2FBF"/>
                </a:solidFill>
              </a:rPr>
              <a:t>ReversarPagoValidador</a:t>
            </a:r>
            <a:r>
              <a:rPr lang="es-ES" sz="1200" b="0" i="0">
                <a:solidFill>
                  <a:srgbClr val="2B2B33"/>
                </a:solidFill>
              </a:rPr>
              <a:t>: revisan la forma antes de tocar el dominio.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486400" cy="1691640"/>
          </a:xfrm>
          <a:prstGeom prst="roundRect">
            <a:avLst>
              <a:gd name="adj" fmla="val 7567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Hexagon 12"/>
          <p:cNvSpPr/>
          <p:nvPr/>
        </p:nvSpPr>
        <p:spPr>
          <a:xfrm>
            <a:off x="713232" y="33467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3328416"/>
            <a:ext cx="45994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Observadores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03904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00" b="1" i="0">
                <a:solidFill>
                  <a:srgbClr val="7A2FBF"/>
                </a:solidFill>
              </a:rPr>
              <a:t>NotificarPagoConfirmadoManejador</a:t>
            </a:r>
            <a:r>
              <a:rPr lang="es-ES" sz="1200" b="0" i="0">
                <a:solidFill>
                  <a:srgbClr val="2B2B33"/>
                </a:solidFill>
              </a:rPr>
              <a:t>, </a:t>
            </a:r>
            <a:r>
              <a:rPr lang="es-ES" sz="1200" b="1" i="0">
                <a:solidFill>
                  <a:srgbClr val="7A2FBF"/>
                </a:solidFill>
              </a:rPr>
              <a:t>…RechazadoManejador</a:t>
            </a:r>
            <a:r>
              <a:rPr lang="es-ES" sz="1200" b="0" i="0">
                <a:solidFill>
                  <a:srgbClr val="2B2B33"/>
                </a:solidFill>
              </a:rPr>
              <a:t> y </a:t>
            </a:r>
            <a:r>
              <a:rPr lang="es-ES" sz="1200" b="1" i="0">
                <a:solidFill>
                  <a:srgbClr val="7A2FBF"/>
                </a:solidFill>
              </a:rPr>
              <a:t>…ReversadoManejador</a:t>
            </a:r>
            <a:r>
              <a:rPr lang="es-ES" sz="1200" b="0" i="0">
                <a:solidFill>
                  <a:srgbClr val="2B2B33"/>
                </a:solidFill>
              </a:rPr>
              <a:t>: avisan al pagador.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00400"/>
            <a:ext cx="5486400" cy="1691640"/>
          </a:xfrm>
          <a:prstGeom prst="roundRect">
            <a:avLst>
              <a:gd name="adj" fmla="val 7567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7" name="Hexagon 16"/>
          <p:cNvSpPr/>
          <p:nvPr/>
        </p:nvSpPr>
        <p:spPr>
          <a:xfrm>
            <a:off x="6336792" y="3346704"/>
            <a:ext cx="457200" cy="397764"/>
          </a:xfrm>
          <a:prstGeom prst="hexagon">
            <a:avLst/>
          </a:prstGeom>
          <a:solidFill>
            <a:srgbClr val="7A2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3328416"/>
            <a:ext cx="4599431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Modelos de lectura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803904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200" b="1" i="0">
                <a:solidFill>
                  <a:srgbClr val="7A2FBF"/>
                </a:solidFill>
              </a:rPr>
              <a:t>ResultadoDePagoDto</a:t>
            </a:r>
            <a:r>
              <a:rPr lang="es-ES" sz="1200" b="0" i="0">
                <a:solidFill>
                  <a:srgbClr val="2B2B33"/>
                </a:solidFill>
              </a:rPr>
              <a:t> y </a:t>
            </a:r>
            <a:r>
              <a:rPr lang="es-ES" sz="1200" b="1" i="0">
                <a:solidFill>
                  <a:srgbClr val="7A2FBF"/>
                </a:solidFill>
              </a:rPr>
              <a:t>PagoDto</a:t>
            </a:r>
            <a:r>
              <a:rPr lang="es-ES" sz="1200" b="0" i="0">
                <a:solidFill>
                  <a:srgbClr val="2B2B33"/>
                </a:solidFill>
              </a:rPr>
              <a:t>: el agregado nunca sale del núcleo.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Siguen registrándose </a:t>
            </a:r>
            <a:r>
              <a:rPr lang="es-ES" sz="1150" b="1" i="0">
                <a:solidFill>
                  <a:srgbClr val="2B2B33"/>
                </a:solidFill>
              </a:rPr>
              <a:t>por convención</a:t>
            </a:r>
            <a:r>
              <a:rPr lang="es-ES" sz="1150" b="0" i="0">
                <a:solidFill>
                  <a:srgbClr val="2B2B33"/>
                </a:solidFill>
              </a:rPr>
              <a:t> con </a:t>
            </a:r>
            <a:r>
              <a:rPr lang="es-ES" sz="1150" b="1" i="0">
                <a:solidFill>
                  <a:srgbClr val="7A2FBF"/>
                </a:solidFill>
              </a:rPr>
              <a:t>AgregarBloquesDeAplicacion</a:t>
            </a:r>
            <a:r>
              <a:rPr lang="es-ES" sz="1150" b="0" i="0">
                <a:solidFill>
                  <a:srgbClr val="2B2B33"/>
                </a:solidFill>
              </a:rPr>
              <a:t>, que ahora recorre el ensamblado del núcleo.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Puertos de entrada: comando + mediador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3258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000" b="1" i="0">
                <a:solidFill>
                  <a:srgbClr val="D6006F"/>
                </a:solidFill>
              </a:rPr>
              <a:t>Propuesta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19072"/>
            <a:ext cx="6035040" cy="3246120"/>
          </a:xfrm>
          <a:prstGeom prst="roundRect">
            <a:avLst>
              <a:gd name="adj" fmla="val 2816"/>
            </a:avLst>
          </a:prstGeom>
          <a:solidFill>
            <a:srgbClr val="23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namespace </a:t>
            </a:r>
            <a:r>
              <a:rPr lang="en-US" sz="1200" noProof="1">
                <a:solidFill>
                  <a:srgbClr val="FFB066"/>
                </a:solidFill>
                <a:latin typeface="Courier New"/>
              </a:rPr>
              <a:t>Pagos.Nucleo.Puertos.Entrada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;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200" noProof="1">
                <a:solidFill>
                  <a:srgbClr val="9AD1B0"/>
                </a:solidFill>
                <a:latin typeface="Courier New"/>
              </a:rPr>
              <a:t>// Lo que Pagos ofrece al mundo exterior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public sealed record </a:t>
            </a:r>
            <a:r>
              <a:rPr lang="en-US" sz="1200" noProof="1">
                <a:solidFill>
                  <a:srgbClr val="FFB066"/>
                </a:solidFill>
                <a:latin typeface="Courier New"/>
              </a:rPr>
              <a:t>PagarObligacionComando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(...)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: IComando&lt;ResultadoDePagoDto&gt;;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public sealed record </a:t>
            </a:r>
            <a:r>
              <a:rPr lang="en-US" sz="1200" noProof="1">
                <a:solidFill>
                  <a:srgbClr val="FFB066"/>
                </a:solidFill>
                <a:latin typeface="Courier New"/>
              </a:rPr>
              <a:t>ReversarPagoComando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(...)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: IComando&lt;Unidad&gt;;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public sealed record </a:t>
            </a:r>
            <a:r>
              <a:rPr lang="en-US" sz="1200" noProof="1">
                <a:solidFill>
                  <a:srgbClr val="FFB066"/>
                </a:solidFill>
                <a:latin typeface="Courier New"/>
              </a:rPr>
              <a:t>ObtenerPagoConsulta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(Guid PagoId)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: IConsulta&lt;PagoDto&gt;;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200" noProof="1">
                <a:solidFill>
                  <a:srgbClr val="9AD1B0"/>
                </a:solidFill>
                <a:latin typeface="Courier New"/>
              </a:rPr>
              <a:t>// La puerta es IMediador, de BuildingBlocks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719072"/>
            <a:ext cx="4846320" cy="1463040"/>
          </a:xfrm>
          <a:prstGeom prst="roundRect">
            <a:avLst>
              <a:gd name="adj" fmla="val 8750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95160" y="1847088"/>
            <a:ext cx="452627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7A2FBF"/>
                </a:solidFill>
              </a:rPr>
              <a:t>El puerto es comando + mediador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322576"/>
            <a:ext cx="448055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150" b="0" i="0">
                <a:solidFill>
                  <a:srgbClr val="2B2B33"/>
                </a:solidFill>
              </a:rPr>
              <a:t>No hace falta escribir una interfaz nueva: el comando dice </a:t>
            </a:r>
            <a:r>
              <a:rPr lang="es-ES" sz="1150" b="1" i="0">
                <a:solidFill>
                  <a:srgbClr val="2B2B33"/>
                </a:solidFill>
              </a:rPr>
              <a:t>qué</a:t>
            </a:r>
            <a:r>
              <a:rPr lang="es-ES" sz="1150" b="0" i="0">
                <a:solidFill>
                  <a:srgbClr val="2B2B33"/>
                </a:solidFill>
              </a:rPr>
              <a:t> se puede pedir y </a:t>
            </a:r>
            <a:r>
              <a:rPr lang="es-ES" sz="1150" b="1" i="0">
                <a:solidFill>
                  <a:srgbClr val="7A2FBF"/>
                </a:solidFill>
              </a:rPr>
              <a:t>IMediador</a:t>
            </a:r>
            <a:r>
              <a:rPr lang="es-ES" sz="1150" b="0" i="0">
                <a:solidFill>
                  <a:srgbClr val="2B2B33"/>
                </a:solidFill>
              </a:rPr>
              <a:t> es la puerta.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3319272"/>
            <a:ext cx="4846320" cy="1645920"/>
          </a:xfrm>
          <a:prstGeom prst="roundRect">
            <a:avLst>
              <a:gd name="adj" fmla="val 7777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6967728" y="3465576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383280"/>
            <a:ext cx="397763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00" b="1" i="0">
                <a:solidFill>
                  <a:srgbClr val="D6006F"/>
                </a:solidFill>
              </a:rPr>
              <a:t>Por qué no IPagarObligacion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886200"/>
            <a:ext cx="4526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Si un adaptador llama directo a una interfaz del manejador, </a:t>
            </a:r>
            <a:r>
              <a:rPr lang="es-ES" sz="1150" b="1" i="0">
                <a:solidFill>
                  <a:srgbClr val="2B2B33"/>
                </a:solidFill>
              </a:rPr>
              <a:t>se salta el pipeline</a:t>
            </a:r>
            <a:r>
              <a:rPr lang="es-ES" sz="1150" b="0" i="0">
                <a:solidFill>
                  <a:srgbClr val="2B2B33"/>
                </a:solidFill>
              </a:rPr>
              <a:t>: sin validación, sin registro y sin confirmar la transacción.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Los campos de los comandos se omiten (…) porque los documentos no los detallan: se conservan tal como están hoy.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Puertos de salida: los cuatro, juntos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3258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000" b="1" i="0">
                <a:solidFill>
                  <a:srgbClr val="D6006F"/>
                </a:solidFill>
              </a:rPr>
              <a:t>Propuesta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19072"/>
            <a:ext cx="6675120" cy="3246120"/>
          </a:xfrm>
          <a:prstGeom prst="roundRect">
            <a:avLst>
              <a:gd name="adj" fmla="val 2816"/>
            </a:avLst>
          </a:prstGeom>
          <a:solidFill>
            <a:srgbClr val="23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namespace </a:t>
            </a:r>
            <a:r>
              <a:rPr lang="en-US" sz="900" noProof="1">
                <a:solidFill>
                  <a:srgbClr val="FFB066"/>
                </a:solidFill>
                <a:latin typeface="Courier New"/>
              </a:rPr>
              <a:t>Pagos.Nucleo.Puertos.Salida</a:t>
            </a:r>
            <a:r>
              <a:rPr lang="en-US" sz="900" noProof="1">
                <a:solidFill>
                  <a:srgbClr val="F2F2F5"/>
                </a:solidFill>
                <a:latin typeface="Courier New"/>
              </a:rPr>
              <a:t>;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900" noProof="1">
                <a:solidFill>
                  <a:srgbClr val="9AD1B0"/>
                </a:solidFill>
                <a:latin typeface="Courier New"/>
              </a:rPr>
              <a:t>// Lo que Pagos necesita del mundo exterior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public interface </a:t>
            </a:r>
            <a:r>
              <a:rPr lang="en-US" sz="900" noProof="1">
                <a:solidFill>
                  <a:srgbClr val="FFB066"/>
                </a:solidFill>
                <a:latin typeface="Courier New"/>
              </a:rPr>
              <a:t>IPagoRepository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{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    Task&lt;bool&gt; ExistePagoActivoParaAsync(...);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    ...  </a:t>
            </a:r>
            <a:r>
              <a:rPr lang="en-US" sz="900" noProof="1">
                <a:solidFill>
                  <a:srgbClr val="9AD1B0"/>
                </a:solidFill>
                <a:latin typeface="Courier New"/>
              </a:rPr>
              <a:t>// obtener, agregar, actualizar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}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public interface </a:t>
            </a:r>
            <a:r>
              <a:rPr lang="en-US" sz="900" noProof="1">
                <a:solidFill>
                  <a:srgbClr val="FFB066"/>
                </a:solidFill>
                <a:latin typeface="Courier New"/>
              </a:rPr>
              <a:t>IConsultaDeObligaciones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{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    Task&lt;ObligacionPorPagar?&gt; ObtenerAsync(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        ReferenciaObligacion referencia, DateTimeOffset fecha, ...);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}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public interface </a:t>
            </a:r>
            <a:r>
              <a:rPr lang="en-US" sz="900" noProof="1">
                <a:solidFill>
                  <a:srgbClr val="FFB066"/>
                </a:solidFill>
                <a:latin typeface="Courier New"/>
              </a:rPr>
              <a:t>IGeneradorNumeroRecibo</a:t>
            </a:r>
            <a:r>
              <a:rPr lang="en-US" sz="900" noProof="1">
                <a:solidFill>
                  <a:srgbClr val="F2F2F5"/>
                </a:solidFill>
                <a:latin typeface="Courier New"/>
              </a:rPr>
              <a:t> { ... }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public interface </a:t>
            </a:r>
            <a:r>
              <a:rPr lang="en-US" sz="900" noProof="1">
                <a:solidFill>
                  <a:srgbClr val="FFB066"/>
                </a:solidFill>
                <a:latin typeface="Courier New"/>
              </a:rPr>
              <a:t>IPasarelaDePagos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{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    Task&lt;ResultadoDeAutorizacion&gt; AutorizarAsync(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        SolicitudDeAutorizacion solicitud, ...);</a:t>
            </a:r>
          </a:p>
          <a:p>
            <a:pPr algn="l"/>
            <a:r>
              <a:rPr lang="en-US" sz="900" noProof="1">
                <a:solidFill>
                  <a:srgbClr val="F2F2F5"/>
                </a:solidFill>
                <a:latin typeface="Courier New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719072"/>
            <a:ext cx="4206240" cy="960120"/>
          </a:xfrm>
          <a:prstGeom prst="roundRect">
            <a:avLst>
              <a:gd name="adj" fmla="val 11428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719072"/>
            <a:ext cx="3886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Hoy en Domain</a:t>
            </a:r>
          </a:p>
          <a:p>
            <a:pPr algn="l"/>
            <a:r>
              <a:rPr lang="es-ES" sz="1150" b="0" i="0">
                <a:solidFill>
                  <a:srgbClr val="2B2B33"/>
                </a:solidFill>
              </a:rPr>
              <a:t>IPagoRepository · IConsultaDeObligaciones · IGeneradorNumeroRecibo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816352"/>
            <a:ext cx="4206240" cy="960120"/>
          </a:xfrm>
          <a:prstGeom prst="roundRect">
            <a:avLst>
              <a:gd name="adj" fmla="val 11428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35240" y="2816352"/>
            <a:ext cx="3886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Hoy en Application</a:t>
            </a:r>
          </a:p>
          <a:p>
            <a:pPr algn="l"/>
            <a:r>
              <a:rPr lang="es-ES" sz="1150" b="0" i="0">
                <a:solidFill>
                  <a:srgbClr val="2B2B33"/>
                </a:solidFill>
              </a:rPr>
              <a:t>IPasarelaDePagos, con SolicitudDeAutorizacion y ResultadoDeAutorizacion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3913631"/>
            <a:ext cx="4206240" cy="960120"/>
          </a:xfrm>
          <a:prstGeom prst="roundRect">
            <a:avLst>
              <a:gd name="adj" fmla="val 11428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3913631"/>
            <a:ext cx="3886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7A2FBF"/>
                </a:solidFill>
              </a:rPr>
              <a:t>Propuesta</a:t>
            </a:r>
          </a:p>
          <a:p>
            <a:pPr algn="l"/>
            <a:r>
              <a:rPr lang="es-ES" sz="1150" b="0" i="0">
                <a:solidFill>
                  <a:srgbClr val="7A2FBF"/>
                </a:solidFill>
              </a:rPr>
              <a:t>los cuatro en Puertos/Salida: desaparece la distinción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3B4252"/>
                </a:solidFill>
              </a:rPr>
              <a:t>ServicioDeCobro</a:t>
            </a:r>
            <a:r>
              <a:rPr lang="es-ES" sz="1150" b="0" i="0">
                <a:solidFill>
                  <a:srgbClr val="2B2B33"/>
                </a:solidFill>
              </a:rPr>
              <a:t> sigue usando tres de estos puertos: está en el mismo núcleo, así que la dependencia queda adentro. Las firmas son las documentadas; el resto se marca con «…».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Adaptadores de entrada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3258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000" b="1" i="0">
                <a:solidFill>
                  <a:srgbClr val="D6006F"/>
                </a:solidFill>
              </a:rPr>
              <a:t>Propuesta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19072"/>
            <a:ext cx="6263640" cy="3246120"/>
          </a:xfrm>
          <a:prstGeom prst="roundRect">
            <a:avLst>
              <a:gd name="adj" fmla="val 2816"/>
            </a:avLst>
          </a:prstGeom>
          <a:solidFill>
            <a:srgbClr val="23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namespace </a:t>
            </a:r>
            <a:r>
              <a:rPr lang="en-US" sz="1100" noProof="1">
                <a:solidFill>
                  <a:srgbClr val="FFB066"/>
                </a:solidFill>
                <a:latin typeface="Courier New"/>
              </a:rPr>
              <a:t>Pagos.Adaptadores.Entrada.Http</a:t>
            </a:r>
            <a:r>
              <a:rPr lang="en-US" sz="1100" noProof="1">
                <a:solidFill>
                  <a:srgbClr val="F2F2F5"/>
                </a:solidFill>
                <a:latin typeface="Courier New"/>
              </a:rPr>
              <a:t>;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public sealed class </a:t>
            </a:r>
            <a:r>
              <a:rPr lang="en-US" sz="1100" noProof="1">
                <a:solidFill>
                  <a:srgbClr val="FFB066"/>
                </a:solidFill>
                <a:latin typeface="Courier New"/>
              </a:rPr>
              <a:t>PagosEndpoints</a:t>
            </a:r>
            <a:r>
              <a:rPr lang="en-US" sz="1100" noProof="1">
                <a:solidFill>
                  <a:srgbClr val="F2F2F5"/>
                </a:solidFill>
                <a:latin typeface="Courier New"/>
              </a:rPr>
              <a:t> : IModuloDeEndpoints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{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public void Mapear(EnrutadorHttp enrutador) =&gt; enrutador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.MapearPost("/api/pagos", PagarAsync)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.MapearGet("/api/pagos/{id}", ObtenerAsync);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private static async Task&lt;RespuestaHttp&gt; PagarAsync(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ContextoHttp contexto, CancellationToken ct)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{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var solicitud = contexto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    .LeerCuerpo&lt;PagarObligacionSolicitud&gt;();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var resultado = await contexto.Mediador.EnviarAsync(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    new PagarObligacionComando(...), ct);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return ...;  </a:t>
            </a:r>
            <a:r>
              <a:rPr lang="en-US" sz="1100" noProof="1">
                <a:solidFill>
                  <a:srgbClr val="9AD1B0"/>
                </a:solidFill>
                <a:latin typeface="Courier New"/>
              </a:rPr>
              <a:t>// 201 confirmado o 402 rechazado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}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19072"/>
            <a:ext cx="4709160" cy="3246120"/>
          </a:xfrm>
          <a:prstGeom prst="roundRect">
            <a:avLst>
              <a:gd name="adj" fmla="val 2816"/>
            </a:avLst>
          </a:prstGeom>
          <a:solidFill>
            <a:srgbClr val="23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namespace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</a:t>
            </a:r>
            <a:r>
              <a:rPr lang="en-US" sz="1200" noProof="1">
                <a:solidFill>
                  <a:srgbClr val="FFB066"/>
                </a:solidFill>
                <a:latin typeface="Courier New"/>
              </a:rPr>
              <a:t>Pagos.Adaptadores.Entrada.Mensajeria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;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public sealed class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</a:t>
            </a:r>
            <a:r>
              <a:rPr lang="en-US" sz="1200" noProof="1">
                <a:solidFill>
                  <a:srgbClr val="FFB066"/>
                </a:solidFill>
                <a:latin typeface="Courier New"/>
              </a:rPr>
              <a:t>PagoDeSancionRechazadoConsumidor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(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IMediador mediador)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: IManejadorDeEventoDeIntegracion&lt;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  PagoDeSancionRechazadoV1&gt;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{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public Task ManejarAsync(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  PagoDeSancionRechazadoV1 mensaje,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  ContextoDeMensaje contexto,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  CancellationToken ct) =&gt;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mediador.EnviarAsync(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  new ReversarPagoComando(...), ct);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Los dos hacen lo mismo con distinta tecnología: </a:t>
            </a:r>
            <a:r>
              <a:rPr lang="es-ES" sz="1150" b="1" i="0">
                <a:solidFill>
                  <a:srgbClr val="2B2B33"/>
                </a:solidFill>
              </a:rPr>
              <a:t>traducen</a:t>
            </a:r>
            <a:r>
              <a:rPr lang="es-ES" sz="1150" b="0" i="0">
                <a:solidFill>
                  <a:srgbClr val="2B2B33"/>
                </a:solidFill>
              </a:rPr>
              <a:t> una entrada (HTTP o un evento) a un comando y lo entregan por el puerto de entrada. Ninguno tiene lógica de negocio.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D6006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Adaptadores de salida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86400" cy="1691640"/>
          </a:xfrm>
          <a:prstGeom prst="roundRect">
            <a:avLst>
              <a:gd name="adj" fmla="val 7567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713232" y="15179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499616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Salida/Persistencia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29967"/>
            <a:ext cx="131710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850" b="1" i="0">
                <a:solidFill>
                  <a:srgbClr val="2B2B33"/>
                </a:solidFill>
              </a:rPr>
              <a:t>RepositorioDePagos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21773" y="2029967"/>
            <a:ext cx="200418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850" b="1" i="0">
                <a:solidFill>
                  <a:srgbClr val="2B2B33"/>
                </a:solidFill>
              </a:rPr>
              <a:t>GeneradorNumeroReciboDocumental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Implementan </a:t>
            </a:r>
            <a:r>
              <a:rPr lang="es-ES" sz="1150" b="1" i="0">
                <a:solidFill>
                  <a:srgbClr val="D6006F"/>
                </a:solidFill>
              </a:rPr>
              <a:t>IPagoRepository</a:t>
            </a:r>
            <a:r>
              <a:rPr lang="es-ES" sz="1150" b="0" i="0">
                <a:solidFill>
                  <a:srgbClr val="2B2B33"/>
                </a:solidFill>
              </a:rPr>
              <a:t> e </a:t>
            </a:r>
            <a:r>
              <a:rPr lang="es-ES" sz="1150" b="1" i="0">
                <a:solidFill>
                  <a:srgbClr val="D6006F"/>
                </a:solidFill>
              </a:rPr>
              <a:t>IGeneradorNumeroRecibo</a:t>
            </a:r>
            <a:r>
              <a:rPr lang="es-ES" sz="1150" b="0" i="0">
                <a:solidFill>
                  <a:srgbClr val="2B2B33"/>
                </a:solidFill>
              </a:rPr>
              <a:t> sobre la BD JSON del BuildingBlock.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86400" cy="1691640"/>
          </a:xfrm>
          <a:prstGeom prst="roundRect">
            <a:avLst>
              <a:gd name="adj" fmla="val 7567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Hexagon 10"/>
          <p:cNvSpPr/>
          <p:nvPr/>
        </p:nvSpPr>
        <p:spPr>
          <a:xfrm>
            <a:off x="6336792" y="15179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8" y="1499616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Salida/Sanciones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029967"/>
            <a:ext cx="210988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850" b="1" i="0">
                <a:solidFill>
                  <a:srgbClr val="2B2B33"/>
                </a:solidFill>
              </a:rPr>
              <a:t>ConsultaDeObligacionesDeSanciones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316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Capa anticorrupción: implementa </a:t>
            </a:r>
            <a:r>
              <a:rPr lang="es-ES" sz="1150" b="1" i="0">
                <a:solidFill>
                  <a:srgbClr val="D6006F"/>
                </a:solidFill>
              </a:rPr>
              <a:t>IConsultaDeObligaciones</a:t>
            </a:r>
            <a:r>
              <a:rPr lang="es-ES" sz="1150" b="0" i="0">
                <a:solidFill>
                  <a:srgbClr val="2B2B33"/>
                </a:solidFill>
              </a:rPr>
              <a:t> llamando a Sanciones por HTTP.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86400" cy="1691640"/>
          </a:xfrm>
          <a:prstGeom prst="roundRect">
            <a:avLst>
              <a:gd name="adj" fmla="val 7567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Hexagon 15"/>
          <p:cNvSpPr/>
          <p:nvPr/>
        </p:nvSpPr>
        <p:spPr>
          <a:xfrm>
            <a:off x="713232" y="33467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328416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Salida/Pasarela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58768"/>
            <a:ext cx="152851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850" b="1" i="0">
                <a:solidFill>
                  <a:srgbClr val="2B2B33"/>
                </a:solidFill>
              </a:rPr>
              <a:t>PasarelaFakePayAdapter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3183" y="3858768"/>
            <a:ext cx="1052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850" b="1" i="0">
                <a:solidFill>
                  <a:srgbClr val="2B2B33"/>
                </a:solidFill>
              </a:rPr>
              <a:t>FakePayClient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59175" y="3858768"/>
            <a:ext cx="200418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850" b="1" i="0">
                <a:solidFill>
                  <a:srgbClr val="2B2B33"/>
                </a:solidFill>
              </a:rPr>
              <a:t>FakePayChargeRequest /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Implementa </a:t>
            </a:r>
            <a:r>
              <a:rPr lang="es-ES" sz="1150" b="1" i="0">
                <a:solidFill>
                  <a:srgbClr val="D6006F"/>
                </a:solidFill>
              </a:rPr>
              <a:t>IPasarelaDePagos</a:t>
            </a:r>
            <a:r>
              <a:rPr lang="es-ES" sz="1150" b="0" i="0">
                <a:solidFill>
                  <a:srgbClr val="2B2B33"/>
                </a:solidFill>
              </a:rPr>
              <a:t> traduciendo al SDK de terceros.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00400"/>
            <a:ext cx="5486400" cy="1691640"/>
          </a:xfrm>
          <a:prstGeom prst="roundRect">
            <a:avLst>
              <a:gd name="adj" fmla="val 7567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Hexagon 22"/>
          <p:cNvSpPr/>
          <p:nvPr/>
        </p:nvSpPr>
        <p:spPr>
          <a:xfrm>
            <a:off x="6336792" y="3346704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3328416"/>
            <a:ext cx="45720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50" b="1" i="0">
                <a:solidFill>
                  <a:srgbClr val="D6006F"/>
                </a:solidFill>
              </a:rPr>
              <a:t>Salida/Eventos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858768"/>
            <a:ext cx="158136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850" b="1" i="0">
                <a:solidFill>
                  <a:srgbClr val="2B2B33"/>
                </a:solidFill>
              </a:rPr>
              <a:t>PagoConfirmadoTraductor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9595" y="3858768"/>
            <a:ext cx="152851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850" b="1" i="0">
                <a:solidFill>
                  <a:srgbClr val="2B2B33"/>
                </a:solidFill>
              </a:rPr>
              <a:t>PagoReversadoTraductor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11258" y="3858768"/>
            <a:ext cx="126424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850" b="1" i="0">
                <a:solidFill>
                  <a:srgbClr val="2B2B33"/>
                </a:solidFill>
              </a:rPr>
              <a:t>Canales de salida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25196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Traducen eventos de dominio a contratos V1 y los publican por los canales: bus, auditoría y buzón.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Novedad:</a:t>
            </a:r>
            <a:r>
              <a:rPr lang="es-ES" sz="1150" b="0" i="0">
                <a:solidFill>
                  <a:srgbClr val="2B2B33"/>
                </a:solidFill>
              </a:rPr>
              <a:t> los traductores salen del núcleo hacia </a:t>
            </a:r>
            <a:r>
              <a:rPr lang="es-ES" sz="1150" b="1" i="0">
                <a:solidFill>
                  <a:srgbClr val="D6006F"/>
                </a:solidFill>
              </a:rPr>
              <a:t>Salida/Eventos</a:t>
            </a:r>
            <a:r>
              <a:rPr lang="es-ES" sz="1150" b="0" i="0">
                <a:solidFill>
                  <a:srgbClr val="2B2B33"/>
                </a:solidFill>
              </a:rPr>
              <a:t>. Así el núcleo deja de depender de </a:t>
            </a:r>
            <a:r>
              <a:rPr lang="es-ES" sz="1150" b="1" i="0">
                <a:solidFill>
                  <a:srgbClr val="D6006F"/>
                </a:solidFill>
              </a:rPr>
              <a:t>Pagos.Contracts</a:t>
            </a:r>
            <a:r>
              <a:rPr lang="es-ES" sz="1150" b="0" i="0">
                <a:solidFill>
                  <a:srgbClr val="2B2B33"/>
                </a:solidFill>
              </a:rPr>
              <a:t>. Como el registro por convención solo recorre el núcleo, se registran explícitamente.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D6006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Código · Adaptador de la pasarela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3258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000" b="1" i="0">
                <a:solidFill>
                  <a:srgbClr val="D6006F"/>
                </a:solidFill>
              </a:rPr>
              <a:t>Esquema ilustrativo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19072"/>
            <a:ext cx="6949440" cy="3246120"/>
          </a:xfrm>
          <a:prstGeom prst="roundRect">
            <a:avLst>
              <a:gd name="adj" fmla="val 2816"/>
            </a:avLst>
          </a:prstGeom>
          <a:solidFill>
            <a:srgbClr val="23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namespace </a:t>
            </a:r>
            <a:r>
              <a:rPr lang="en-US" sz="1100" noProof="1">
                <a:solidFill>
                  <a:srgbClr val="FFB066"/>
                </a:solidFill>
                <a:latin typeface="Courier New"/>
              </a:rPr>
              <a:t>Pagos.Adaptadores.Salida.Pasarela</a:t>
            </a:r>
            <a:r>
              <a:rPr lang="en-US" sz="1100" noProof="1">
                <a:solidFill>
                  <a:srgbClr val="F2F2F5"/>
                </a:solidFill>
                <a:latin typeface="Courier New"/>
              </a:rPr>
              <a:t>;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public sealed class </a:t>
            </a:r>
            <a:r>
              <a:rPr lang="en-US" sz="1100" noProof="1">
                <a:solidFill>
                  <a:srgbClr val="FFB066"/>
                </a:solidFill>
                <a:latin typeface="Courier New"/>
              </a:rPr>
              <a:t>PasarelaFakePayAdapter</a:t>
            </a:r>
            <a:r>
              <a:rPr lang="en-US" sz="1100" noProof="1">
                <a:solidFill>
                  <a:srgbClr val="F2F2F5"/>
                </a:solidFill>
                <a:latin typeface="Courier New"/>
              </a:rPr>
              <a:t>(FakePayClient cliente)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: IPasarelaDePagos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{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public async Task&lt;ResultadoDeAutorizacion&gt; AutorizarAsync(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SolicitudDeAutorizacion solicitud, CancellationToken ct)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{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var respuesta = await cliente.</a:t>
            </a:r>
            <a:r>
              <a:rPr lang="en-US" sz="1100" noProof="1">
                <a:solidFill>
                  <a:srgbClr val="FFB066"/>
                </a:solidFill>
                <a:latin typeface="Courier New"/>
              </a:rPr>
              <a:t>ChargeAsync</a:t>
            </a:r>
            <a:r>
              <a:rPr lang="en-US" sz="1100" noProof="1">
                <a:solidFill>
                  <a:srgbClr val="F2F2F5"/>
                </a:solidFill>
                <a:latin typeface="Courier New"/>
              </a:rPr>
              <a:t>(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    new FakePayChargeRequest { ... }, ct);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</a:t>
            </a:r>
            <a:r>
              <a:rPr lang="en-US" sz="1100" noProof="1">
                <a:solidFill>
                  <a:srgbClr val="9AD1B0"/>
                </a:solidFill>
                <a:latin typeface="Courier New"/>
              </a:rPr>
              <a:t>// AmountInCents  ← pesos × 100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</a:t>
            </a:r>
            <a:r>
              <a:rPr lang="en-US" sz="1100" noProof="1">
                <a:solidFill>
                  <a:srgbClr val="9AD1B0"/>
                </a:solidFill>
                <a:latin typeface="Courier New"/>
              </a:rPr>
              <a:t>// IdempotencyKey ← PagoId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return respuesta.Status == "approved"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    ? ResultadoDeAutorizacion.</a:t>
            </a:r>
            <a:r>
              <a:rPr lang="en-US" sz="1100" noProof="1">
                <a:solidFill>
                  <a:srgbClr val="FFB066"/>
                </a:solidFill>
                <a:latin typeface="Courier New"/>
              </a:rPr>
              <a:t>Aprobar</a:t>
            </a:r>
            <a:r>
              <a:rPr lang="en-US" sz="1100" noProof="1">
                <a:solidFill>
                  <a:srgbClr val="F2F2F5"/>
                </a:solidFill>
                <a:latin typeface="Courier New"/>
              </a:rPr>
              <a:t>(...)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        : ResultadoDeAutorizacion.</a:t>
            </a:r>
            <a:r>
              <a:rPr lang="en-US" sz="1100" noProof="1">
                <a:solidFill>
                  <a:srgbClr val="FFB066"/>
                </a:solidFill>
                <a:latin typeface="Courier New"/>
              </a:rPr>
              <a:t>Rechazar</a:t>
            </a:r>
            <a:r>
              <a:rPr lang="en-US" sz="1100" noProof="1">
                <a:solidFill>
                  <a:srgbClr val="F2F2F5"/>
                </a:solidFill>
                <a:latin typeface="Courier New"/>
              </a:rPr>
              <a:t>(...);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    }</a:t>
            </a:r>
          </a:p>
          <a:p>
            <a:pPr algn="l"/>
            <a:r>
              <a:rPr lang="en-US" sz="1100" noProof="1">
                <a:solidFill>
                  <a:srgbClr val="F2F2F5"/>
                </a:solidFill>
                <a:latin typeface="Courier New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719072"/>
            <a:ext cx="3931920" cy="713232"/>
          </a:xfrm>
          <a:prstGeom prst="roundRect">
            <a:avLst>
              <a:gd name="adj" fmla="val 15384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09560" y="1719072"/>
            <a:ext cx="3657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Pesos ↔ centavos</a:t>
            </a:r>
          </a:p>
          <a:p>
            <a:pPr algn="l"/>
            <a:r>
              <a:rPr lang="es-ES" sz="1150" b="0" i="0">
                <a:solidFill>
                  <a:srgbClr val="2B2B33"/>
                </a:solidFill>
              </a:rPr>
              <a:t>la conversión ocurre solo aquí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542032"/>
            <a:ext cx="3931920" cy="713232"/>
          </a:xfrm>
          <a:prstGeom prst="roundRect">
            <a:avLst>
              <a:gd name="adj" fmla="val 15384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2542032"/>
            <a:ext cx="3657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"approved" ↔ aprobado</a:t>
            </a:r>
          </a:p>
          <a:p>
            <a:pPr algn="l"/>
            <a:r>
              <a:rPr lang="es-ES" sz="1150" b="0" i="0">
                <a:solidFill>
                  <a:srgbClr val="2B2B33"/>
                </a:solidFill>
              </a:rPr>
              <a:t>el texto del SDK se vuelve un resultado propio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364991"/>
            <a:ext cx="3931920" cy="713232"/>
          </a:xfrm>
          <a:prstGeom prst="roundRect">
            <a:avLst>
              <a:gd name="adj" fmla="val 15384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3364991"/>
            <a:ext cx="3657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DeclineCode ↔ mensaje</a:t>
            </a:r>
          </a:p>
          <a:p>
            <a:pPr algn="l"/>
            <a:r>
              <a:rPr lang="es-ES" sz="1150" b="0" i="0">
                <a:solidFill>
                  <a:srgbClr val="2B2B33"/>
                </a:solidFill>
              </a:rPr>
              <a:t>códigos en inglés a mensajes en español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4187952"/>
            <a:ext cx="3931920" cy="713232"/>
          </a:xfrm>
          <a:prstGeom prst="roundRect">
            <a:avLst>
              <a:gd name="adj" fmla="val 15384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4187952"/>
            <a:ext cx="36576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PagoId = IdempotencyKey</a:t>
            </a:r>
          </a:p>
          <a:p>
            <a:pPr algn="l"/>
            <a:r>
              <a:rPr lang="es-ES" sz="1150" b="0" i="0">
                <a:solidFill>
                  <a:srgbClr val="2B2B33"/>
                </a:solidFill>
              </a:rPr>
              <a:t>si se reintenta, no se cobra dos veces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El SDK habla inglés y en centavos (</a:t>
            </a:r>
            <a:r>
              <a:rPr lang="es-ES" sz="1150" b="1" i="0">
                <a:solidFill>
                  <a:srgbClr val="3B4252"/>
                </a:solidFill>
              </a:rPr>
              <a:t>ChargeAsync</a:t>
            </a:r>
            <a:r>
              <a:rPr lang="es-ES" sz="1150" b="0" i="0">
                <a:solidFill>
                  <a:srgbClr val="2B2B33"/>
                </a:solidFill>
              </a:rPr>
              <a:t>, </a:t>
            </a:r>
            <a:r>
              <a:rPr lang="es-ES" sz="1150" b="1" i="0">
                <a:solidFill>
                  <a:srgbClr val="3B4252"/>
                </a:solidFill>
              </a:rPr>
              <a:t>AmountInCents</a:t>
            </a:r>
            <a:r>
              <a:rPr lang="es-ES" sz="1150" b="0" i="0">
                <a:solidFill>
                  <a:srgbClr val="2B2B33"/>
                </a:solidFill>
              </a:rPr>
              <a:t>); el adaptador traduce en ambos sentidos. Cambiar de proveedor sigue siendo escribir otro adaptador.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D6006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Código · Capa anticorrupción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3258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000" b="1" i="0">
                <a:solidFill>
                  <a:srgbClr val="D6006F"/>
                </a:solidFill>
              </a:rPr>
              <a:t>Esquema ilustrativo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19072"/>
            <a:ext cx="6949440" cy="3246120"/>
          </a:xfrm>
          <a:prstGeom prst="roundRect">
            <a:avLst>
              <a:gd name="adj" fmla="val 2816"/>
            </a:avLst>
          </a:prstGeom>
          <a:solidFill>
            <a:srgbClr val="23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namespace </a:t>
            </a:r>
            <a:r>
              <a:rPr lang="en-US" sz="1150" noProof="1">
                <a:solidFill>
                  <a:srgbClr val="FFB066"/>
                </a:solidFill>
                <a:latin typeface="Courier New"/>
              </a:rPr>
              <a:t>Pagos.Adaptadores.Salida.Sanciones</a:t>
            </a:r>
            <a:r>
              <a:rPr lang="en-US" sz="1150" noProof="1">
                <a:solidFill>
                  <a:srgbClr val="F2F2F5"/>
                </a:solidFill>
                <a:latin typeface="Courier New"/>
              </a:rPr>
              <a:t>;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public sealed class </a:t>
            </a:r>
            <a:r>
              <a:rPr lang="en-US" sz="1150" noProof="1">
                <a:solidFill>
                  <a:srgbClr val="FFB066"/>
                </a:solidFill>
                <a:latin typeface="Courier New"/>
              </a:rPr>
              <a:t>ConsultaDeObligacionesDeSanciones</a:t>
            </a:r>
            <a:r>
              <a:rPr lang="en-US" sz="1150" noProof="1">
                <a:solidFill>
                  <a:srgbClr val="F2F2F5"/>
                </a:solidFill>
                <a:latin typeface="Courier New"/>
              </a:rPr>
              <a:t>(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   IClienteHttp http) : IConsultaDeObligaciones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{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   public async Task&lt;ObligacionPorPagar?&gt; ObtenerAsync(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       ReferenciaObligacion referencia, DateTimeOffset fecha, ...)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   {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       </a:t>
            </a:r>
            <a:r>
              <a:rPr lang="en-US" sz="1150" noProof="1">
                <a:solidFill>
                  <a:srgbClr val="9AD1B0"/>
                </a:solidFill>
                <a:latin typeface="Courier New"/>
              </a:rPr>
              <a:t>// GET /api/sanciones/{id}/obligacion?fechaPago=...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       var respuesta = await http.EnviarAsync(...);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       if (respuesta es 404) return null;  </a:t>
            </a:r>
            <a:r>
              <a:rPr lang="en-US" sz="1150" noProof="1">
                <a:solidFill>
                  <a:srgbClr val="9AD1B0"/>
                </a:solidFill>
                <a:latin typeface="Courier New"/>
              </a:rPr>
              <a:t>// decide el dominio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       var v1 = ...&lt;ObligacionDeSancionV1&gt;(respuesta);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       return new </a:t>
            </a:r>
            <a:r>
              <a:rPr lang="en-US" sz="1150" noProof="1">
                <a:solidFill>
                  <a:srgbClr val="FFB066"/>
                </a:solidFill>
                <a:latin typeface="Courier New"/>
              </a:rPr>
              <a:t>ObligacionPorPagar</a:t>
            </a:r>
            <a:r>
              <a:rPr lang="en-US" sz="1150" noProof="1">
                <a:solidFill>
                  <a:srgbClr val="F2F2F5"/>
                </a:solidFill>
                <a:latin typeface="Courier New"/>
              </a:rPr>
              <a:t>(...); </a:t>
            </a:r>
            <a:r>
              <a:rPr lang="en-US" sz="1150" noProof="1">
                <a:solidFill>
                  <a:srgbClr val="9AD1B0"/>
                </a:solidFill>
                <a:latin typeface="Courier New"/>
              </a:rPr>
              <a:t>// modelo de Pagos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    }</a:t>
            </a:r>
          </a:p>
          <a:p>
            <a:pPr algn="l"/>
            <a:r>
              <a:rPr lang="en-US" sz="1150" noProof="1">
                <a:solidFill>
                  <a:srgbClr val="F2F2F5"/>
                </a:solidFill>
                <a:latin typeface="Courier New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719072"/>
            <a:ext cx="3931920" cy="713232"/>
          </a:xfrm>
          <a:prstGeom prst="roundRect">
            <a:avLst>
              <a:gd name="adj" fmla="val 15384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863840" y="1892807"/>
            <a:ext cx="365760" cy="365760"/>
          </a:xfrm>
          <a:prstGeom prst="ellipse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719072"/>
            <a:ext cx="3200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Pide</a:t>
            </a:r>
            <a:r>
              <a:rPr lang="es-ES" sz="1150" b="0" i="0">
                <a:solidFill>
                  <a:srgbClr val="2B2B33"/>
                </a:solidFill>
              </a:rPr>
              <a:t> a Sanciones por HTTP, con reintentos y correlación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542032"/>
            <a:ext cx="3931920" cy="713232"/>
          </a:xfrm>
          <a:prstGeom prst="roundRect">
            <a:avLst>
              <a:gd name="adj" fmla="val 15384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863840" y="2715768"/>
            <a:ext cx="365760" cy="365760"/>
          </a:xfrm>
          <a:prstGeom prst="ellipse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542032"/>
            <a:ext cx="3200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Recibe</a:t>
            </a:r>
            <a:r>
              <a:rPr lang="es-ES" sz="1150" b="0" i="0">
                <a:solidFill>
                  <a:srgbClr val="2B2B33"/>
                </a:solidFill>
              </a:rPr>
              <a:t> el contrato público </a:t>
            </a:r>
            <a:r>
              <a:rPr lang="es-ES" sz="1150" b="1" i="0">
                <a:solidFill>
                  <a:srgbClr val="D6006F"/>
                </a:solidFill>
              </a:rPr>
              <a:t>ObligacionDeSancionV1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3364991"/>
            <a:ext cx="3931920" cy="713232"/>
          </a:xfrm>
          <a:prstGeom prst="roundRect">
            <a:avLst>
              <a:gd name="adj" fmla="val 15384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863840" y="3538727"/>
            <a:ext cx="365760" cy="365760"/>
          </a:xfrm>
          <a:prstGeom prst="ellipse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364991"/>
            <a:ext cx="3200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Traduce</a:t>
            </a:r>
            <a:r>
              <a:rPr lang="es-ES" sz="1150" b="0" i="0">
                <a:solidFill>
                  <a:srgbClr val="2B2B33"/>
                </a:solidFill>
              </a:rPr>
              <a:t> a </a:t>
            </a:r>
            <a:r>
              <a:rPr lang="es-ES" sz="1150" b="1" i="0">
                <a:solidFill>
                  <a:srgbClr val="D6006F"/>
                </a:solidFill>
              </a:rPr>
              <a:t>ObligacionPorPagar</a:t>
            </a:r>
            <a:r>
              <a:rPr lang="es-ES" sz="1150" b="0" i="0">
                <a:solidFill>
                  <a:srgbClr val="2B2B33"/>
                </a:solidFill>
              </a:rPr>
              <a:t>, el modelo propio de Pagos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4187952"/>
            <a:ext cx="3931920" cy="713232"/>
          </a:xfrm>
          <a:prstGeom prst="roundRect">
            <a:avLst>
              <a:gd name="adj" fmla="val 15384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63840" y="4361688"/>
            <a:ext cx="365760" cy="365760"/>
          </a:xfrm>
          <a:prstGeom prst="ellipse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187952"/>
            <a:ext cx="32004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Protege</a:t>
            </a:r>
            <a:r>
              <a:rPr lang="es-ES" sz="1150" b="0" i="0">
                <a:solidFill>
                  <a:srgbClr val="2B2B33"/>
                </a:solidFill>
              </a:rPr>
              <a:t> si Sanciones publica un V2, solo cambia esta clase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Un 404 se vuelve </a:t>
            </a:r>
            <a:r>
              <a:rPr lang="es-ES" sz="1150" b="1" i="0">
                <a:solidFill>
                  <a:srgbClr val="3B4252"/>
                </a:solidFill>
              </a:rPr>
              <a:t>null</a:t>
            </a:r>
            <a:r>
              <a:rPr lang="es-ES" sz="1150" b="0" i="0">
                <a:solidFill>
                  <a:srgbClr val="2B2B33"/>
                </a:solidFill>
              </a:rPr>
              <a:t> y el dominio aplica la regla </a:t>
            </a:r>
            <a:r>
              <a:rPr lang="es-ES" sz="1150" b="1" i="0">
                <a:solidFill>
                  <a:srgbClr val="3B4252"/>
                </a:solidFill>
              </a:rPr>
              <a:t>ObligacionDebeExistir</a:t>
            </a:r>
            <a:r>
              <a:rPr lang="es-ES" sz="1150" b="0" i="0">
                <a:solidFill>
                  <a:srgbClr val="2B2B33"/>
                </a:solidFill>
              </a:rPr>
              <a:t>. El contrato de Sanciones </a:t>
            </a:r>
            <a:r>
              <a:rPr lang="es-ES" sz="1150" b="1" i="0">
                <a:solidFill>
                  <a:srgbClr val="2B2B33"/>
                </a:solidFill>
              </a:rPr>
              <a:t>no entra al núcleo</a:t>
            </a:r>
            <a:r>
              <a:rPr lang="es-ES" sz="1150" b="0" i="0">
                <a:solidFill>
                  <a:srgbClr val="2B2B33"/>
                </a:solidFill>
              </a:rPr>
              <a:t>: se queda en este adaptador.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El Host conecta todo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3258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lang="es-ES" sz="1000" b="1" i="0">
                <a:solidFill>
                  <a:srgbClr val="D6006F"/>
                </a:solidFill>
              </a:rPr>
              <a:t>Propuesta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19072"/>
            <a:ext cx="4572000" cy="3246120"/>
          </a:xfrm>
          <a:prstGeom prst="roundRect">
            <a:avLst>
              <a:gd name="adj" fmla="val 2816"/>
            </a:avLst>
          </a:prstGeom>
          <a:solidFill>
            <a:srgbClr val="23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/>
            <a:r>
              <a:rPr lang="en-US" sz="1200" noProof="1">
                <a:solidFill>
                  <a:srgbClr val="9AD1B0"/>
                </a:solidFill>
                <a:latin typeface="Courier New"/>
              </a:rPr>
              <a:t>// Pagos.Host/MicroservicioPagos.cs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constructor.Services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.</a:t>
            </a:r>
            <a:r>
              <a:rPr lang="en-US" sz="1200" noProof="1">
                <a:solidFill>
                  <a:srgbClr val="FFB066"/>
                </a:solidFill>
                <a:latin typeface="Courier New"/>
              </a:rPr>
              <a:t>AgregarNucleoPagos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()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.</a:t>
            </a:r>
            <a:r>
              <a:rPr lang="en-US" sz="1200" noProof="1">
                <a:solidFill>
                  <a:srgbClr val="FFB066"/>
                </a:solidFill>
                <a:latin typeface="Courier New"/>
              </a:rPr>
              <a:t>AgregarAdaptadoresDeSalidaPagos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(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    entorno, opciones)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   .</a:t>
            </a:r>
            <a:r>
              <a:rPr lang="en-US" sz="1200" noProof="1">
                <a:solidFill>
                  <a:srgbClr val="FFB066"/>
                </a:solidFill>
                <a:latin typeface="Courier New"/>
              </a:rPr>
              <a:t>AgregarAdaptadoresDeEntradaPagos</a:t>
            </a:r>
            <a:r>
              <a:rPr lang="en-US" sz="1200" noProof="1">
                <a:solidFill>
                  <a:srgbClr val="F2F2F5"/>
                </a:solidFill>
                <a:latin typeface="Courier New"/>
              </a:rPr>
              <a:t>();</a:t>
            </a:r>
          </a:p>
          <a:p>
            <a:pPr algn="l"/>
            <a:r>
              <a:rPr lang="en-US" sz="12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200" noProof="1">
                <a:solidFill>
                  <a:srgbClr val="9AD1B0"/>
                </a:solidFill>
                <a:latin typeface="Courier New"/>
              </a:rPr>
              <a:t>// Mismo contenedor, misma BD</a:t>
            </a:r>
          </a:p>
          <a:p>
            <a:pPr algn="l"/>
            <a:r>
              <a:rPr lang="en-US" sz="1200" noProof="1">
                <a:solidFill>
                  <a:srgbClr val="9AD1B0"/>
                </a:solidFill>
                <a:latin typeface="Courier New"/>
              </a:rPr>
              <a:t>// propia y mismas validaciones</a:t>
            </a:r>
          </a:p>
          <a:p>
            <a:pPr algn="l"/>
            <a:r>
              <a:rPr lang="en-US" sz="1200" noProof="1">
                <a:solidFill>
                  <a:srgbClr val="9AD1B0"/>
                </a:solidFill>
                <a:latin typeface="Courier New"/>
              </a:rPr>
              <a:t>// al arrancar que hoy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1719072"/>
            <a:ext cx="6309360" cy="3246120"/>
          </a:xfrm>
          <a:prstGeom prst="roundRect">
            <a:avLst>
              <a:gd name="adj" fmla="val 2816"/>
            </a:avLst>
          </a:prstGeom>
          <a:solidFill>
            <a:srgbClr val="23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/>
            <a:r>
              <a:rPr lang="en-US" sz="1000" noProof="1">
                <a:solidFill>
                  <a:srgbClr val="9AD1B0"/>
                </a:solidFill>
                <a:latin typeface="Courier New"/>
              </a:rPr>
              <a:t>// Núcleo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services.AgregarBloquesDeAplicacion(ensambladoNucleo);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services.AddScoped&lt;ServicioDeCobro&gt;();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000" noProof="1">
                <a:solidFill>
                  <a:srgbClr val="9AD1B0"/>
                </a:solidFill>
                <a:latin typeface="Courier New"/>
              </a:rPr>
              <a:t>// Salida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services.AgregarBloquesDeInfraestructura(entorno, opciones);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services.AddScoped&lt;IPagoRepository, RepositorioDePagos&gt;();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services.AddScoped&lt;IConsultaDeObligaciones,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    ConsultaDeObligacionesDeSanciones&gt;();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services.AddScoped&lt;IPasarelaDePagos, PasarelaFakePayAdapter&gt;();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services.AddScoped&lt;ITraductorDeEventoDeDominio,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    PagoConfirmadoTraductor&gt;();   </a:t>
            </a:r>
            <a:r>
              <a:rPr lang="en-US" sz="1000" noProof="1">
                <a:solidFill>
                  <a:srgbClr val="9AD1B0"/>
                </a:solidFill>
                <a:latin typeface="Courier New"/>
              </a:rPr>
              <a:t>// + PagoReversadoTraductor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services.AgregarCanalesDeSalida(...);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 </a:t>
            </a:r>
          </a:p>
          <a:p>
            <a:pPr algn="l"/>
            <a:r>
              <a:rPr lang="en-US" sz="1000" noProof="1">
                <a:solidFill>
                  <a:srgbClr val="9AD1B0"/>
                </a:solidFill>
                <a:latin typeface="Courier New"/>
              </a:rPr>
              <a:t>// Entrada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services.AgregarApiSimulada()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    .AgregarModuloDeEndpoints&lt;PagosEndpoints&gt;();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services.AgregarConsumidor&lt;PagoDeSancionRechazadoV1,</a:t>
            </a:r>
          </a:p>
          <a:p>
            <a:pPr algn="l"/>
            <a:r>
              <a:rPr lang="en-US" sz="1000" noProof="1">
                <a:solidFill>
                  <a:srgbClr val="F2F2F5"/>
                </a:solidFill>
                <a:latin typeface="Courier New"/>
              </a:rPr>
              <a:t>    PagoDeSancionRechazadoConsumidor&gt;(...);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Cada método de extensión </a:t>
            </a:r>
            <a:r>
              <a:rPr lang="es-ES" sz="1150" b="1" i="0">
                <a:solidFill>
                  <a:srgbClr val="2B2B33"/>
                </a:solidFill>
              </a:rPr>
              <a:t>empieza llamando al del BuildingBlock</a:t>
            </a:r>
            <a:r>
              <a:rPr lang="es-ES" sz="1150" b="0" i="0">
                <a:solidFill>
                  <a:srgbClr val="2B2B33"/>
                </a:solidFill>
              </a:rPr>
              <a:t> que le corresponde, igual que hoy. Lo que cambia es el agrupamiento: por lado (núcleo, entrada, salida) en lugar de por capa.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Patrones en el Pagos hexagonal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109960" cy="3621024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s-ES" sz="1250" b="1" i="0">
                          <a:solidFill>
                            <a:srgbClr val="2B2B33"/>
                          </a:solidFill>
                        </a:rPr>
                        <a:t>Patrón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E7D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1" i="0">
                          <a:solidFill>
                            <a:srgbClr val="2B2B33"/>
                          </a:solidFill>
                        </a:rPr>
                        <a:t>Dónde queda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E7D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50" b="1" i="0">
                          <a:solidFill>
                            <a:srgbClr val="2B2B33"/>
                          </a:solidFill>
                        </a:rPr>
                        <a:t>Lugar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E7D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Ports and Adapters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Puertos/Entrada, Puertos/Salida y los dos proyectos de adaptadores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Arquitectura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Adapter · Anti-Corruption Layer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PasarelaFakePayAdapter · ConsultaDeObligacionesDeSanciones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Salida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Proxy + Decorator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Cliente HTTP que usa la ACL (simulado + reintentos)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BuildingBlocks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State · Singleton / Flyweight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EstadoDePago y sus cuatro estados, una instancia de cada uno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Núcleo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Memento · Factory Method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PagoMemento · EstadoDePago.Desde, ResultadoDeAutorizacion.Aprobar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Núcleo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Command + Mediator · Chain of Responsibility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El puerto de entrada y el pipeline que lo envuelve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Núcleo + BuildingBlocks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Observer · Template Method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Observadores de notificación · traductores y repositorio base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Núcleo · Salida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Saga con compensación · Idempotent Consumer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Reversar el pago · bandeja de entrada del consumidor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Entrada + BuildingBlocks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0" i="0">
                <a:solidFill>
                  <a:srgbClr val="2B2B33"/>
                </a:solidFill>
              </a:rPr>
              <a:t>Ningún patrón desaparece: todos se conservan y solo cambian de carpeta. El que se hace </a:t>
            </a:r>
            <a:r>
              <a:rPr lang="es-ES" sz="1150" b="1" i="0">
                <a:solidFill>
                  <a:srgbClr val="2B2B33"/>
                </a:solidFill>
              </a:rPr>
              <a:t>visible</a:t>
            </a:r>
            <a:r>
              <a:rPr lang="es-ES" sz="1150" b="0" i="0">
                <a:solidFill>
                  <a:srgbClr val="2B2B33"/>
                </a:solidFill>
              </a:rPr>
              <a:t> es Ports and Adapters, que antes estaba implícito.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Qué se movió y a dónde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109960" cy="402336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es-ES" sz="1200" b="1" i="0">
                          <a:solidFill>
                            <a:srgbClr val="2B2B33"/>
                          </a:solidFill>
                        </a:rPr>
                        <a:t>Hoy (Clean)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E7D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i="0">
                          <a:solidFill>
                            <a:srgbClr val="2B2B33"/>
                          </a:solidFill>
                        </a:rPr>
                        <a:t>Propuesta (hexagonal)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E7D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i="0">
                          <a:solidFill>
                            <a:srgbClr val="2B2B33"/>
                          </a:solidFill>
                        </a:rPr>
                        <a:t>¿Cambia el código?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E7D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Pagos.Domain: Pago, estados, eventos, reglas, ServicioDeCobro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Nucleo/Dominio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No, solo el namespace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Pagos.Domain: IPagoRepository, IConsultaDeObligaciones, IGeneradorNumeroRecibo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Nucleo/Puertos/Salida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No, solo el namespace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Pagos.Application/Puertos: IPasarelaDePagos y sus modelos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Nucleo/Puertos/Salida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No, solo el namespace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Pagos.Application: comandos y consulta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Nucleo/Puertos/Entrada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No, solo el namespace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Pagos.Application: manejadores, validadores, observadores, DTO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Nucleo/Aplicacion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No, solo el namespace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Pagos.Application/Integracion/Consumidores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Adaptadores.Entrada/Mensajeria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Namespace y referencia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Pagos.Application/Integracion/Traductores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Adaptadores.Salida/Eventos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Registro explícito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Pagos.Infrastructure: repositorio, ACL, pasarela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Adaptadores.Salida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No, solo el namespace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lang="es-ES" sz="1100" b="1" i="0">
                          <a:solidFill>
                            <a:srgbClr val="2B2B33"/>
                          </a:solidFill>
                        </a:rPr>
                        <a:t>Pagos.Api: endpoints y solicitudes · MicroservicioPagos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Adaptadores.Entrada/Http · Host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0E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100" b="0" i="0">
                          <a:solidFill>
                            <a:srgbClr val="2B2B33"/>
                          </a:solidFill>
                        </a:rPr>
                        <a:t>Agrupar los registros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rgbClr val="404040"/>
                      </a:solidFill>
                      <a:prstDash val="solid"/>
                    </a:lnL>
                    <a:lnR w="12700" cap="flat" cmpd="sng" algn="ctr">
                      <a:solidFill>
                        <a:srgbClr val="404040"/>
                      </a:solidFill>
                      <a:prstDash val="solid"/>
                    </a:lnR>
                    <a:lnT w="12700" cap="flat" cmpd="sng" algn="ctr">
                      <a:solidFill>
                        <a:srgbClr val="404040"/>
                      </a:solidFill>
                      <a:prstDash val="solid"/>
                    </a:lnT>
                    <a:lnB w="12700" cap="flat" cmpd="sng" algn="ctr">
                      <a:solidFill>
                        <a:srgbClr val="40404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440680"/>
            <a:ext cx="11109960" cy="365760"/>
          </a:xfrm>
          <a:prstGeom prst="roundRect">
            <a:avLst>
              <a:gd name="adj" fmla="val 3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ctr"/>
            <a:r>
              <a:rPr lang="es-ES" sz="1150" b="0" i="0">
                <a:solidFill>
                  <a:srgbClr val="2B2B33"/>
                </a:solidFill>
              </a:rPr>
              <a:t>Todo lo demás (BuildingBlocks, Sanciones, Licencias y Pagos.Contracts) </a:t>
            </a:r>
            <a:r>
              <a:rPr lang="es-ES" sz="1150" b="1" i="0">
                <a:solidFill>
                  <a:srgbClr val="2B2B33"/>
                </a:solidFill>
              </a:rPr>
              <a:t>no se toca</a:t>
            </a:r>
            <a:r>
              <a:rPr lang="es-ES" sz="1150" b="0" i="0">
                <a:solidFill>
                  <a:srgbClr val="2B2B33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04672" y="310896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200" b="1" i="0">
                <a:solidFill>
                  <a:srgbClr val="7A2FBF"/>
                </a:solidFill>
              </a:rPr>
              <a:t>PARTE 2 · PAGOS HEXAGONAL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04672" y="548640"/>
            <a:ext cx="8915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3600" b="0" i="0">
                <a:solidFill>
                  <a:srgbClr val="2B2B33"/>
                </a:solidFill>
              </a:rPr>
              <a:t>Lo que ganamos y lo que 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440680" cy="457200"/>
          </a:xfrm>
          <a:prstGeom prst="roundRect">
            <a:avLst>
              <a:gd name="adj" fmla="val 24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Ganamos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>
            <a:off x="685800" y="2039112"/>
            <a:ext cx="457200" cy="397764"/>
          </a:xfrm>
          <a:prstGeom prst="hexag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El núcleo </a:t>
            </a:r>
            <a:r>
              <a:rPr lang="es-ES" sz="1200" b="1" i="0">
                <a:solidFill>
                  <a:srgbClr val="2B2B33"/>
                </a:solidFill>
              </a:rPr>
              <a:t>ya no conoce contratos</a:t>
            </a:r>
            <a:r>
              <a:rPr lang="es-ES" sz="1200" b="0" i="0">
                <a:solidFill>
                  <a:srgbClr val="2B2B33"/>
                </a:solidFill>
              </a:rPr>
              <a:t>, ni los de Pagos ni los de Sanciones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Hexagon 8"/>
          <p:cNvSpPr/>
          <p:nvPr/>
        </p:nvSpPr>
        <p:spPr>
          <a:xfrm>
            <a:off x="685800" y="2816352"/>
            <a:ext cx="457200" cy="397764"/>
          </a:xfrm>
          <a:prstGeom prst="hexag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9748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Las </a:t>
            </a:r>
            <a:r>
              <a:rPr lang="es-ES" sz="1200" b="1" i="0">
                <a:solidFill>
                  <a:srgbClr val="2B2B33"/>
                </a:solidFill>
              </a:rPr>
              <a:t>entradas y salidas son explícitas</a:t>
            </a:r>
            <a:r>
              <a:rPr lang="es-ES" sz="1200" b="0" i="0">
                <a:solidFill>
                  <a:srgbClr val="2B2B33"/>
                </a:solidFill>
              </a:rPr>
              <a:t>: dos y cuatro, con nombre propio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Hexagon 11"/>
          <p:cNvSpPr/>
          <p:nvPr/>
        </p:nvSpPr>
        <p:spPr>
          <a:xfrm>
            <a:off x="685800" y="3593591"/>
            <a:ext cx="457200" cy="397764"/>
          </a:xfrm>
          <a:prstGeom prst="hexag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7472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1" i="0">
                <a:solidFill>
                  <a:srgbClr val="2B2B33"/>
                </a:solidFill>
              </a:rPr>
              <a:t>El dibujo coincide con la ejecución</a:t>
            </a:r>
            <a:r>
              <a:rPr lang="es-ES" sz="1200" b="0" i="0">
                <a:solidFill>
                  <a:srgbClr val="2B2B33"/>
                </a:solidFill>
              </a:rPr>
              <a:t>: no hay capa de infraestructura en medio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Hexagon 14"/>
          <p:cNvSpPr/>
          <p:nvPr/>
        </p:nvSpPr>
        <p:spPr>
          <a:xfrm>
            <a:off x="685800" y="4370832"/>
            <a:ext cx="457200" cy="397764"/>
          </a:xfrm>
          <a:prstGeom prst="hexagon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5196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Una comparación real, dentro del mismo sistema, para enseñar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440680" cy="457200"/>
          </a:xfrm>
          <a:prstGeom prst="roundRect">
            <a:avLst>
              <a:gd name="adj" fmla="val 24000"/>
            </a:avLst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s-ES" sz="1400" b="1" i="0">
                <a:solidFill>
                  <a:srgbClr val="FFFFFF"/>
                </a:solidFill>
              </a:rPr>
              <a:t>No ganamos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2024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Hexagon 18"/>
          <p:cNvSpPr/>
          <p:nvPr/>
        </p:nvSpPr>
        <p:spPr>
          <a:xfrm>
            <a:off x="6355080" y="2039112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92024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Más desacople ni más facilidad de prueba: Pagos ya los tenía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69748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Hexagon 21"/>
          <p:cNvSpPr/>
          <p:nvPr/>
        </p:nvSpPr>
        <p:spPr>
          <a:xfrm>
            <a:off x="6355080" y="2816352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69748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La simetría con BuildingBlocks, que sigue cortado por capas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7472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Hexagon 24"/>
          <p:cNvSpPr/>
          <p:nvPr/>
        </p:nvSpPr>
        <p:spPr>
          <a:xfrm>
            <a:off x="6355080" y="3593591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47472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Un solo estilo en la solución: ahora conviven dos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251960"/>
            <a:ext cx="5440680" cy="685800"/>
          </a:xfrm>
          <a:prstGeom prst="roundRect">
            <a:avLst>
              <a:gd name="adj" fmla="val 16000"/>
            </a:avLst>
          </a:prstGeom>
          <a:solidFill>
            <a:srgbClr val="F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Hexagon 27"/>
          <p:cNvSpPr/>
          <p:nvPr/>
        </p:nvSpPr>
        <p:spPr>
          <a:xfrm>
            <a:off x="6355080" y="4370832"/>
            <a:ext cx="457200" cy="397764"/>
          </a:xfrm>
          <a:prstGeom prst="hexagon">
            <a:avLst/>
          </a:prstGeom>
          <a:solidFill>
            <a:srgbClr val="D600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s-ES" sz="1100" b="1" i="0">
                <a:solidFill>
                  <a:srgbClr val="FFFFFF"/>
                </a:solidFill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251960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200" b="0" i="0">
                <a:solidFill>
                  <a:srgbClr val="2B2B33"/>
                </a:solidFill>
              </a:rPr>
              <a:t>Tiempo: hay que mover archivos y cambiar namespaces y registros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38928"/>
            <a:ext cx="11109960" cy="667512"/>
          </a:xfrm>
          <a:prstGeom prst="roundRect">
            <a:avLst>
              <a:gd name="adj" fmla="val 13698"/>
            </a:avLst>
          </a:prstGeom>
          <a:solidFill>
            <a:srgbClr val="F0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138928"/>
            <a:ext cx="10744200" cy="6675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150" b="1" i="0">
                <a:solidFill>
                  <a:srgbClr val="2B2B33"/>
                </a:solidFill>
              </a:rPr>
              <a:t>Criterio de éxito:</a:t>
            </a:r>
            <a:r>
              <a:rPr lang="es-ES" sz="1150" b="0" i="0">
                <a:solidFill>
                  <a:srgbClr val="2B2B33"/>
                </a:solidFill>
              </a:rPr>
              <a:t> las 18 pruebas de dominio y las pruebas de integración (pago exitoso y reversión por compensación) pasan sin modificarse.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2DD914-6F1E-A763-66F5-0253B3F3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068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53E7C7-8AE5-4AED-AD03-ACF7236A778A}" type="slidenum">
              <a:rPr kumimoji="0" lang="es-CO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tint val="75000"/>
                  </a:prstClr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pPr marL="0" marR="0" lvl="0" indent="0" algn="r" defTabSz="8068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CO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tint val="75000"/>
                </a:prstClr>
              </a:solidFill>
              <a:effectLst/>
              <a:uLnTx/>
              <a:uFillTx/>
              <a:latin typeface="Arial Nova Light" panose="020B0304020202020204" pitchFamily="34" charset="0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1C3881-3F12-9FA8-EFFC-8110F1DFE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O"/>
              <a:t>Sede Central</a:t>
            </a:r>
            <a:r>
              <a:rPr lang="es-ES"/>
              <a:t> Medellín</a:t>
            </a:r>
            <a:endParaRPr lang="en-CO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96BA1F8-8C99-77EB-7B37-8495AE8869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44888978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Presentación UPB 2018" id="{36F8BB01-3393-FA4D-8145-86DA81FADD61}" vid="{FB05699F-FE3A-FD40-B367-9B6900AD0EFD}"/>
    </a:ext>
  </a:extLst>
</a:theme>
</file>

<file path=ppt/theme/theme2.xml><?xml version="1.0" encoding="utf-8"?>
<a:theme xmlns:a="http://schemas.openxmlformats.org/drawingml/2006/main" name="UPB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owerpoint UPB 2024" id="{CEBC3956-D0C8-4A58-ADF8-31B9AB3F6717}" vid="{43DB4CCB-4183-4A1B-933C-13FC8EFB2C14}"/>
    </a:ext>
  </a:extLst>
</a:theme>
</file>

<file path=ppt/theme/theme3.xml><?xml version="1.0" encoding="utf-8"?>
<a:theme xmlns:a="http://schemas.openxmlformats.org/drawingml/2006/main" name="1_UPB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owerpoint UPB 2024" id="{CEBC3956-D0C8-4A58-ADF8-31B9AB3F6717}" vid="{43DB4CCB-4183-4A1B-933C-13FC8EFB2C1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3159</Words>
  <Application>Microsoft Office PowerPoint</Application>
  <PresentationFormat>Panorámica</PresentationFormat>
  <Paragraphs>538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24</vt:i4>
      </vt:variant>
    </vt:vector>
  </HeadingPairs>
  <TitlesOfParts>
    <vt:vector size="37" baseType="lpstr">
      <vt:lpstr>Arial</vt:lpstr>
      <vt:lpstr>Arial Narrow</vt:lpstr>
      <vt:lpstr>Arial Nova Light</vt:lpstr>
      <vt:lpstr>Avenir Next</vt:lpstr>
      <vt:lpstr>Avenir Next Medium</vt:lpstr>
      <vt:lpstr>Calibri</vt:lpstr>
      <vt:lpstr>Courier New</vt:lpstr>
      <vt:lpstr>Flama Condensed Light</vt:lpstr>
      <vt:lpstr>Helvetica Neue Medium</vt:lpstr>
      <vt:lpstr>Vice City Sans</vt:lpstr>
      <vt:lpstr>1_Tema de Office</vt:lpstr>
      <vt:lpstr>UPB 2022</vt:lpstr>
      <vt:lpstr>1_UPB 2022</vt:lpstr>
      <vt:lpstr>Microservicio Pagos: de Clean a hexagonal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Sede Central Medellín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DDD: Domain Driven Design</dc:title>
  <dc:creator>Cesar Augusto Lopez Gallego</dc:creator>
  <cp:lastModifiedBy>Cesar Augusto Lopez Gallego</cp:lastModifiedBy>
  <cp:revision>48</cp:revision>
  <dcterms:created xsi:type="dcterms:W3CDTF">2025-03-18T15:33:38Z</dcterms:created>
  <dcterms:modified xsi:type="dcterms:W3CDTF">2026-10-13T13:21:58Z</dcterms:modified>
</cp:coreProperties>
</file>