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  <p:sldMasterId id="2147483676" r:id="rId2"/>
    <p:sldMasterId id="2147483703" r:id="rId3"/>
  </p:sldMasterIdLst>
  <p:sldIdLst>
    <p:sldId id="850" r:id="rId4"/>
    <p:sldId id="851" r:id="rId5"/>
    <p:sldId id="852" r:id="rId6"/>
    <p:sldId id="854" r:id="rId7"/>
    <p:sldId id="855" r:id="rId8"/>
    <p:sldId id="856" r:id="rId9"/>
    <p:sldId id="857" r:id="rId10"/>
    <p:sldId id="858" r:id="rId11"/>
    <p:sldId id="859" r:id="rId12"/>
    <p:sldId id="860" r:id="rId13"/>
    <p:sldId id="861" r:id="rId14"/>
    <p:sldId id="862" r:id="rId15"/>
    <p:sldId id="869" r:id="rId16"/>
    <p:sldId id="863" r:id="rId17"/>
    <p:sldId id="864" r:id="rId18"/>
    <p:sldId id="865" r:id="rId19"/>
    <p:sldId id="866" r:id="rId20"/>
    <p:sldId id="867" r:id="rId21"/>
    <p:sldId id="868" r:id="rId22"/>
    <p:sldId id="768" r:id="rId23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microsoft.com/office/2016/11/relationships/changesInfo" Target="changesInfos/changesInfo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DAF2AA95-CB40-455C-AD4E-7F47F2419141}"/>
    <pc:docChg chg="custSel addSld delSld modSld sldOrd">
      <pc:chgData name="Cesar Augusto Lopez Gallego" userId="0dfa9112-9251-4882-b472-cf2dfcee09d1" providerId="ADAL" clId="{DAF2AA95-CB40-455C-AD4E-7F47F2419141}" dt="2026-10-14T12:49:16.315" v="138" actId="47"/>
      <pc:docMkLst>
        <pc:docMk/>
      </pc:docMkLst>
      <pc:sldChg chg="modSp del mod">
        <pc:chgData name="Cesar Augusto Lopez Gallego" userId="0dfa9112-9251-4882-b472-cf2dfcee09d1" providerId="ADAL" clId="{DAF2AA95-CB40-455C-AD4E-7F47F2419141}" dt="2026-10-14T12:49:16.315" v="138" actId="47"/>
        <pc:sldMkLst>
          <pc:docMk/>
          <pc:sldMk cId="0" sldId="853"/>
        </pc:sldMkLst>
        <pc:spChg chg="mod">
          <ac:chgData name="Cesar Augusto Lopez Gallego" userId="0dfa9112-9251-4882-b472-cf2dfcee09d1" providerId="ADAL" clId="{DAF2AA95-CB40-455C-AD4E-7F47F2419141}" dt="2026-10-14T12:48:55.531" v="137" actId="6549"/>
          <ac:spMkLst>
            <pc:docMk/>
            <pc:sldMk cId="0" sldId="853"/>
            <ac:spMk id="15" creationId="{00000000-0000-0000-0000-000000000000}"/>
          </ac:spMkLst>
        </pc:spChg>
      </pc:sldChg>
      <pc:sldChg chg="modSp add mod ord">
        <pc:chgData name="Cesar Augusto Lopez Gallego" userId="0dfa9112-9251-4882-b472-cf2dfcee09d1" providerId="ADAL" clId="{DAF2AA95-CB40-455C-AD4E-7F47F2419141}" dt="2026-10-12T14:35:51.846" v="131"/>
        <pc:sldMkLst>
          <pc:docMk/>
          <pc:sldMk cId="102641838" sldId="869"/>
        </pc:sldMkLst>
        <pc:graphicFrameChg chg="modGraphic">
          <ac:chgData name="Cesar Augusto Lopez Gallego" userId="0dfa9112-9251-4882-b472-cf2dfcee09d1" providerId="ADAL" clId="{DAF2AA95-CB40-455C-AD4E-7F47F2419141}" dt="2026-10-12T14:34:29.248" v="129" actId="20577"/>
          <ac:graphicFrameMkLst>
            <pc:docMk/>
            <pc:sldMk cId="102641838" sldId="869"/>
            <ac:graphicFrameMk id="2" creationId="{8ED180F8-74DE-479F-BFF0-A7F5EF8FA6A4}"/>
          </ac:graphicFrameMkLst>
        </pc:graphicFrameChg>
      </pc:sldChg>
      <pc:sldChg chg="addSp modSp new del mod">
        <pc:chgData name="Cesar Augusto Lopez Gallego" userId="0dfa9112-9251-4882-b472-cf2dfcee09d1" providerId="ADAL" clId="{DAF2AA95-CB40-455C-AD4E-7F47F2419141}" dt="2026-10-12T14:17:58.211" v="103" actId="2696"/>
        <pc:sldMkLst>
          <pc:docMk/>
          <pc:sldMk cId="3989853673" sldId="869"/>
        </pc:sldMkLst>
        <pc:spChg chg="add mod">
          <ac:chgData name="Cesar Augusto Lopez Gallego" userId="0dfa9112-9251-4882-b472-cf2dfcee09d1" providerId="ADAL" clId="{DAF2AA95-CB40-455C-AD4E-7F47F2419141}" dt="2026-10-12T13:58:08.090" v="27" actId="20577"/>
          <ac:spMkLst>
            <pc:docMk/>
            <pc:sldMk cId="3989853673" sldId="869"/>
            <ac:spMk id="3" creationId="{98D6F799-D23C-49E6-9B40-FEC9BFA9E418}"/>
          </ac:spMkLst>
        </pc:spChg>
        <pc:graphicFrameChg chg="add mod modGraphic">
          <ac:chgData name="Cesar Augusto Lopez Gallego" userId="0dfa9112-9251-4882-b472-cf2dfcee09d1" providerId="ADAL" clId="{DAF2AA95-CB40-455C-AD4E-7F47F2419141}" dt="2026-10-12T14:09:46.366" v="102" actId="20577"/>
          <ac:graphicFrameMkLst>
            <pc:docMk/>
            <pc:sldMk cId="3989853673" sldId="869"/>
            <ac:graphicFrameMk id="2" creationId="{8ED180F8-74DE-479F-BFF0-A7F5EF8FA6A4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0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0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4.svg"/><Relationship Id="rId4" Type="http://schemas.openxmlformats.org/officeDocument/2006/relationships/image" Target="../media/image8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0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0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96E66B-05E0-5444-8A9C-D3EB1F16D4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2EAC24B-8E5A-8243-AE31-3EF52762FF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Medellín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777076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4902D8C-5974-7645-9CED-F972FEE3FD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5" name="Marcador de texto 6">
            <a:extLst>
              <a:ext uri="{FF2B5EF4-FFF2-40B4-BE49-F238E27FC236}">
                <a16:creationId xmlns:a16="http://schemas.microsoft.com/office/drawing/2014/main" id="{8716CF4F-DD12-CE44-9367-00355C6C1C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Bucaramanga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30877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E415E9DB-A2B7-C448-82DB-70C3AF6F1A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4673C5EA-B31B-AF44-864D-09A9EB6DC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Montería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9046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ACD3065D-D187-F24F-802B-82D917750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A2D5DE44-AD08-DB48-B4DE-6FC84952E4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Palmira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532473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F73B532-45B4-2C46-A8D5-63C80078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005" y="1203891"/>
            <a:ext cx="9559128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CB2CCC8-6A51-0448-B720-4D06071CFD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9005" y="2896721"/>
            <a:ext cx="9559127" cy="2384051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75820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3F491-1BDC-0443-9398-BE5406EAC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5" y="1203891"/>
            <a:ext cx="11262311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058790-96AD-CA4D-A66F-9786E6AA4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909328"/>
            <a:ext cx="6042772" cy="32034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DDFD31F-1FED-CC47-939B-20E7A96EEE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74504" y="2860302"/>
            <a:ext cx="5035643" cy="3252507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579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3E924A9-CAF5-9B4B-98E0-85F673CB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531538"/>
            <a:ext cx="9559128" cy="1106559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medios 4">
            <a:extLst>
              <a:ext uri="{FF2B5EF4-FFF2-40B4-BE49-F238E27FC236}">
                <a16:creationId xmlns:a16="http://schemas.microsoft.com/office/drawing/2014/main" id="{BEF3CE8C-793C-1145-84DD-7B818CE544BC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23327" y="1857101"/>
            <a:ext cx="9558618" cy="4096024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4893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F673202-8B18-514D-9685-8D97863D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338366"/>
            <a:ext cx="10443263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abla 4">
            <a:extLst>
              <a:ext uri="{FF2B5EF4-FFF2-40B4-BE49-F238E27FC236}">
                <a16:creationId xmlns:a16="http://schemas.microsoft.com/office/drawing/2014/main" id="{6450A7A0-43E0-1440-B983-790CAD8F434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48855" y="2994776"/>
            <a:ext cx="3781365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BD301C88-2BAD-5147-A445-06CFDF36B11C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4450137" y="3007001"/>
            <a:ext cx="3263713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5037AD-8243-C146-BBB8-4B269A3DE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9953" y="3007001"/>
            <a:ext cx="2982165" cy="29709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8709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4911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411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6558C-9957-AE48-B09C-A4407EA0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0D30D66-9919-7345-8589-FCCA190222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79949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3000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1125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C6B46-AE0A-2242-9732-D30BEEE4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4">
            <a:extLst>
              <a:ext uri="{FF2B5EF4-FFF2-40B4-BE49-F238E27FC236}">
                <a16:creationId xmlns:a16="http://schemas.microsoft.com/office/drawing/2014/main" id="{95848E47-E960-F840-BCAE-22AFDD09C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536476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427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603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287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D7DA507-BAB2-9D4E-9E47-F7A0ED59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F1105376-6298-1040-BAAE-3D749FDA66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44545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81421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4973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6092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6933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59543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2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4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1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5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14/10/2026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85177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14/10/2026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84698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1 - 90 añ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537B9D68-8629-0DB9-8D51-0AB109551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4326" y="4305127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C1600941-86E2-B69B-ED30-8A311252B1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326" y="5205263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EC76E6C-06F7-5C52-1173-8966F121D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25" y="630493"/>
            <a:ext cx="3746388" cy="192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6263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2 - 90 añ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F321277-7840-BA53-930F-F992F4B881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25" y="630493"/>
            <a:ext cx="3746388" cy="1922383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78263A5-313A-DB5E-1FB9-DAEBD0A088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5" y="4397672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BCBE2B2F-2342-F4E6-1955-FF581A33D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5" y="5297808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9749176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arad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80297140-0A82-8526-F333-F359BC826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5557" y="4721147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21EB0AC0-3EB8-20A9-8F78-1E262C94C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5557" y="5621282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090942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8E625071-867F-88AA-53E4-15D6E5952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7" y="4758966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4D068ECC-943E-2515-0AF4-E20985B55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7" y="5659101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1854944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A4B441-847C-9C95-4C3A-7622CA622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06" y="2155894"/>
            <a:ext cx="3746388" cy="1922383"/>
          </a:xfrm>
          <a:prstGeom prst="rect">
            <a:avLst/>
          </a:prstGeom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69BCC850-1A8E-D999-2062-0E1489BD8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4305194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268018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6" y="3878999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6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7" name="Rectángulo">
            <a:extLst>
              <a:ext uri="{FF2B5EF4-FFF2-40B4-BE49-F238E27FC236}">
                <a16:creationId xmlns:a16="http://schemas.microsoft.com/office/drawing/2014/main" id="{F38B2254-1432-4197-8EC5-C21250AEFF61}"/>
              </a:ext>
            </a:extLst>
          </p:cNvPr>
          <p:cNvSpPr/>
          <p:nvPr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391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5" y="6362068"/>
            <a:ext cx="2275566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Imagen 4" descr="Logotipo, Icono&#10;&#10;Descripción generada automáticamente">
            <a:extLst>
              <a:ext uri="{FF2B5EF4-FFF2-40B4-BE49-F238E27FC236}">
                <a16:creationId xmlns:a16="http://schemas.microsoft.com/office/drawing/2014/main" id="{D1A48F75-D143-B028-6E38-D32040281C7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9036" y="3645212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2032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6" y="3878999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6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7" name="Rectángulo">
            <a:extLst>
              <a:ext uri="{FF2B5EF4-FFF2-40B4-BE49-F238E27FC236}">
                <a16:creationId xmlns:a16="http://schemas.microsoft.com/office/drawing/2014/main" id="{F38B2254-1432-4197-8EC5-C21250AEFF61}"/>
              </a:ext>
            </a:extLst>
          </p:cNvPr>
          <p:cNvSpPr/>
          <p:nvPr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391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5" y="6362068"/>
            <a:ext cx="2275566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Imagen 14" descr="Logotipo, Icono&#10;&#10;Descripción generada automáticamente">
            <a:extLst>
              <a:ext uri="{FF2B5EF4-FFF2-40B4-BE49-F238E27FC236}">
                <a16:creationId xmlns:a16="http://schemas.microsoft.com/office/drawing/2014/main" id="{8B1E9A0C-17ED-01BC-2D5A-59ACD3E9BE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3885" y="3648374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939285"/>
      </p:ext>
    </p:extLst>
  </p:cSld>
  <p:clrMapOvr>
    <a:masterClrMapping/>
  </p:clrMapOvr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5" y="4397672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5" y="5297808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53035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Imagen 6" descr="Logotipo, Icono&#10;&#10;Descripción generada automáticamente">
            <a:extLst>
              <a:ext uri="{FF2B5EF4-FFF2-40B4-BE49-F238E27FC236}">
                <a16:creationId xmlns:a16="http://schemas.microsoft.com/office/drawing/2014/main" id="{AF99DC35-6E37-510E-86E4-346EFDA4E54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955" y="3220568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13466"/>
      </p:ext>
    </p:extLst>
  </p:cSld>
  <p:clrMapOvr>
    <a:masterClrMapping/>
  </p:clrMapOvr>
  <p:hf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5" y="4397672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5" y="5297808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53035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Imagen 6" descr="Logotipo, Icono&#10;&#10;Descripción generada automáticamente">
            <a:extLst>
              <a:ext uri="{FF2B5EF4-FFF2-40B4-BE49-F238E27FC236}">
                <a16:creationId xmlns:a16="http://schemas.microsoft.com/office/drawing/2014/main" id="{EDF47380-5D80-C5B6-2DC9-E88EE0FF822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955" y="3226819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303713"/>
      </p:ext>
    </p:extLst>
  </p:cSld>
  <p:clrMapOvr>
    <a:masterClrMapping/>
  </p:clrMapOvr>
  <p:hf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40" y="1564185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40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62377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B21A9555-14D4-73C9-D7B4-4AC08FC7AC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328" y="484775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308272"/>
      </p:ext>
    </p:extLst>
  </p:cSld>
  <p:clrMapOvr>
    <a:masterClrMapping/>
  </p:clrMapOvr>
  <p:hf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40" y="1564185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40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62377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B21A9555-14D4-73C9-D7B4-4AC08FC7AC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328" y="484775"/>
            <a:ext cx="2569228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050530"/>
      </p:ext>
    </p:extLst>
  </p:cSld>
  <p:clrMapOvr>
    <a:masterClrMapping/>
  </p:clrMapOvr>
  <p:hf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7" y="4138334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7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56432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5541268-6A3A-B430-B92B-166CEE34CD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202" y="5479731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820363"/>
      </p:ext>
    </p:extLst>
  </p:cSld>
  <p:clrMapOvr>
    <a:masterClrMapping/>
  </p:clrMapOvr>
  <p:hf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7" y="4138334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7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56432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5541268-6A3A-B430-B92B-166CEE34CD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202" y="5479731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512418"/>
      </p:ext>
    </p:extLst>
  </p:cSld>
  <p:clrMapOvr>
    <a:masterClrMapping/>
  </p:clrMapOvr>
  <p:hf hdr="0" ft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1">
            <a:extLst>
              <a:ext uri="{FF2B5EF4-FFF2-40B4-BE49-F238E27FC236}">
                <a16:creationId xmlns:a16="http://schemas.microsoft.com/office/drawing/2014/main" id="{508C51D1-E784-49FC-A10E-45DCF5412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6" y="3878999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AB671F00-FA4D-44B1-BDD4-E428ECB99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6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27" name="Rectángulo">
            <a:extLst>
              <a:ext uri="{FF2B5EF4-FFF2-40B4-BE49-F238E27FC236}">
                <a16:creationId xmlns:a16="http://schemas.microsoft.com/office/drawing/2014/main" id="{E9C19E82-311E-4507-BFDD-6F54D9CABE2E}"/>
              </a:ext>
            </a:extLst>
          </p:cNvPr>
          <p:cNvSpPr/>
          <p:nvPr userDrawn="1"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391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70021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Gráfico 18">
            <a:extLst>
              <a:ext uri="{FF2B5EF4-FFF2-40B4-BE49-F238E27FC236}">
                <a16:creationId xmlns:a16="http://schemas.microsoft.com/office/drawing/2014/main" id="{9470649C-DFE0-2CDC-522F-66DD42B49B2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8324" y="3722913"/>
            <a:ext cx="2536068" cy="88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84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39446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E2E90C22-0DE3-4766-A1BB-2026B8AB6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5" y="4397672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23A48ACA-1A1E-4EAD-ABE4-732E1554E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5" y="5297808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5F0CD0D-0629-8D5F-049D-91A27552BF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808" y="2435441"/>
            <a:ext cx="3280375" cy="168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60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36049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5FDF1034-9D25-488F-81BF-695C39098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40" y="1549356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B64B71BA-AEA5-4DFC-81E8-27A3F87085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40" y="2449491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B0295510-A358-0BE3-4277-9861C37A22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9538" y="548175"/>
            <a:ext cx="2536070" cy="8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2729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8873" y="6351888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58131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6C20B4A8-0A2A-42D9-82A5-891CA1F61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7" y="4138334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4E197AA1-A037-44B6-892C-3F1192271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7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F3CF4B6-99B0-8BA6-2CE8-B4C20482D6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846" y="5494195"/>
            <a:ext cx="2221980" cy="114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99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50389F3C-F4C4-45B0-80F6-7973FC9E715F}"/>
              </a:ext>
            </a:extLst>
          </p:cNvPr>
          <p:cNvSpPr/>
          <p:nvPr userDrawn="1"/>
        </p:nvSpPr>
        <p:spPr>
          <a:xfrm>
            <a:off x="3288572" y="0"/>
            <a:ext cx="8903428" cy="6858000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462414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E2E90C22-0DE3-4766-A1BB-2026B8AB6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5" y="4397672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effectLst/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23A48ACA-1A1E-4EAD-ABE4-732E1554E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5" y="5297808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effectLst/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7A156EC-7A48-8BCC-345A-509582A81A4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808" y="2587372"/>
            <a:ext cx="3280375" cy="168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9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BB69F40-78E6-4E7D-942E-D48A83F9B8BB}"/>
              </a:ext>
            </a:extLst>
          </p:cNvPr>
          <p:cNvSpPr/>
          <p:nvPr userDrawn="1"/>
        </p:nvSpPr>
        <p:spPr>
          <a:xfrm flipH="1">
            <a:off x="0" y="0"/>
            <a:ext cx="8903428" cy="6858000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7" y="6362068"/>
            <a:ext cx="2536069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7E69CF11-4305-42E0-8DC3-C2BA5DC1E66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9538" y="548175"/>
            <a:ext cx="2536070" cy="884494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2478EF96-255E-4437-9F7B-C344B0354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40" y="1564185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7" name="Subtítulo 2">
            <a:extLst>
              <a:ext uri="{FF2B5EF4-FFF2-40B4-BE49-F238E27FC236}">
                <a16:creationId xmlns:a16="http://schemas.microsoft.com/office/drawing/2014/main" id="{7E70A27B-37BE-4E65-BB74-D433900A54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40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152197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037E542D-6EF4-40FC-B482-30158BD3D149}"/>
              </a:ext>
            </a:extLst>
          </p:cNvPr>
          <p:cNvSpPr/>
          <p:nvPr userDrawn="1"/>
        </p:nvSpPr>
        <p:spPr>
          <a:xfrm rot="16200000" flipH="1">
            <a:off x="4239796" y="-1094203"/>
            <a:ext cx="3712410" cy="12192001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3136" y="6362068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917644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 userDrawn="1"/>
        </p:nvSpPr>
        <p:spPr>
          <a:xfrm>
            <a:off x="306265" y="6362068"/>
            <a:ext cx="2335016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6C20B4A8-0A2A-42D9-82A5-891CA1F61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7" y="4138334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4E197AA1-A037-44B6-892C-3F1192271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7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140" indent="0" algn="ctr">
              <a:buNone/>
              <a:defRPr sz="2000"/>
            </a:lvl2pPr>
            <a:lvl3pPr marL="914280" indent="0" algn="ctr">
              <a:buNone/>
              <a:defRPr sz="1800"/>
            </a:lvl3pPr>
            <a:lvl4pPr marL="1371419" indent="0" algn="ctr">
              <a:buNone/>
              <a:defRPr sz="1600"/>
            </a:lvl4pPr>
            <a:lvl5pPr marL="1828560" indent="0" algn="ctr">
              <a:buNone/>
              <a:defRPr sz="1600"/>
            </a:lvl5pPr>
            <a:lvl6pPr marL="2285699" indent="0" algn="ctr">
              <a:buNone/>
              <a:defRPr sz="1600"/>
            </a:lvl6pPr>
            <a:lvl7pPr marL="2742839" indent="0" algn="ctr">
              <a:buNone/>
              <a:defRPr sz="1600"/>
            </a:lvl7pPr>
            <a:lvl8pPr marL="3199978" indent="0" algn="ctr">
              <a:buNone/>
              <a:defRPr sz="1600"/>
            </a:lvl8pPr>
            <a:lvl9pPr marL="365711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94FDEDB-BB6E-D6B8-335A-CBDC2ACEBB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846" y="5494195"/>
            <a:ext cx="2221980" cy="114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059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3" y="1280161"/>
            <a:ext cx="11521355" cy="471569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2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ítulo 1">
            <a:extLst>
              <a:ext uri="{FF2B5EF4-FFF2-40B4-BE49-F238E27FC236}">
                <a16:creationId xmlns:a16="http://schemas.microsoft.com/office/drawing/2014/main" id="{114232E0-A0B8-414F-BFBD-6335781D5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7" y="234549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Marcador de número de diapositiva 5">
            <a:extLst>
              <a:ext uri="{FF2B5EF4-FFF2-40B4-BE49-F238E27FC236}">
                <a16:creationId xmlns:a16="http://schemas.microsoft.com/office/drawing/2014/main" id="{F3E9FCD0-3A2B-4931-A57C-8450B37E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9B81A4-05C9-46D7-8812-6C902272D490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áfico 9">
            <a:extLst>
              <a:ext uri="{FF2B5EF4-FFF2-40B4-BE49-F238E27FC236}">
                <a16:creationId xmlns:a16="http://schemas.microsoft.com/office/drawing/2014/main" id="{3D59DB55-2BA0-48E4-99AD-A990B456B7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7" name="Subtítulo 2">
            <a:extLst>
              <a:ext uri="{FF2B5EF4-FFF2-40B4-BE49-F238E27FC236}">
                <a16:creationId xmlns:a16="http://schemas.microsoft.com/office/drawing/2014/main" id="{B17B070F-9108-4391-AD07-36FE81B3F768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8F7950BE-34DE-4B47-9298-7F02465D90A0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385975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Imagen 1" descr="Logotipo, Icono&#10;&#10;Descripción generada automáticamente">
            <a:extLst>
              <a:ext uri="{FF2B5EF4-FFF2-40B4-BE49-F238E27FC236}">
                <a16:creationId xmlns:a16="http://schemas.microsoft.com/office/drawing/2014/main" id="{C60F3F6A-D901-B88A-301C-783EA0EAB84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1" y="225699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92079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3" y="1280161"/>
            <a:ext cx="11521355" cy="471569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2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ítulo 1">
            <a:extLst>
              <a:ext uri="{FF2B5EF4-FFF2-40B4-BE49-F238E27FC236}">
                <a16:creationId xmlns:a16="http://schemas.microsoft.com/office/drawing/2014/main" id="{114232E0-A0B8-414F-BFBD-6335781D5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7" y="234549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Marcador de número de diapositiva 5">
            <a:extLst>
              <a:ext uri="{FF2B5EF4-FFF2-40B4-BE49-F238E27FC236}">
                <a16:creationId xmlns:a16="http://schemas.microsoft.com/office/drawing/2014/main" id="{F3E9FCD0-3A2B-4931-A57C-8450B37E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9B81A4-05C9-46D7-8812-6C902272D490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áfico 9">
            <a:extLst>
              <a:ext uri="{FF2B5EF4-FFF2-40B4-BE49-F238E27FC236}">
                <a16:creationId xmlns:a16="http://schemas.microsoft.com/office/drawing/2014/main" id="{3D59DB55-2BA0-48E4-99AD-A990B456B7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17" name="Subtítulo 2">
            <a:extLst>
              <a:ext uri="{FF2B5EF4-FFF2-40B4-BE49-F238E27FC236}">
                <a16:creationId xmlns:a16="http://schemas.microsoft.com/office/drawing/2014/main" id="{B17B070F-9108-4391-AD07-36FE81B3F768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8F7950BE-34DE-4B47-9298-7F02465D90A0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385975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Imagen 1" descr="Logotipo, Icono&#10;&#10;Descripción generada automáticamente">
            <a:extLst>
              <a:ext uri="{FF2B5EF4-FFF2-40B4-BE49-F238E27FC236}">
                <a16:creationId xmlns:a16="http://schemas.microsoft.com/office/drawing/2014/main" id="{9CA6321D-7B01-7334-BBF5-BE2DA5FD1D6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1" y="225699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7074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3" y="1280161"/>
            <a:ext cx="11521355" cy="47156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2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20956670-5A7F-49D4-8722-176461DF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98C3BA5-13A6-4C67-9E38-A11D21214C24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ítulo 1">
            <a:extLst>
              <a:ext uri="{FF2B5EF4-FFF2-40B4-BE49-F238E27FC236}">
                <a16:creationId xmlns:a16="http://schemas.microsoft.com/office/drawing/2014/main" id="{EF6EAF07-730A-4E35-915E-D653A3202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7" y="234549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solidFill>
                  <a:schemeClr val="bg1"/>
                </a:solidFill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3FFF5260-7128-4E59-A75B-BB53F0308A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78A9F594-838A-45CA-B7A3-101BEA134EAF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tx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Subtítulo 2">
            <a:extLst>
              <a:ext uri="{FF2B5EF4-FFF2-40B4-BE49-F238E27FC236}">
                <a16:creationId xmlns:a16="http://schemas.microsoft.com/office/drawing/2014/main" id="{73271241-B6E9-4D53-B2D0-9A222A7A6E45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224612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6" name="Gráfico 18">
            <a:extLst>
              <a:ext uri="{FF2B5EF4-FFF2-40B4-BE49-F238E27FC236}">
                <a16:creationId xmlns:a16="http://schemas.microsoft.com/office/drawing/2014/main" id="{D62B7823-71B9-BE40-1CA4-29D22B6DFF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1093" y="287710"/>
            <a:ext cx="1824723" cy="63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74473"/>
      </p:ext>
    </p:extLst>
  </p:cSld>
  <p:clrMapOvr>
    <a:masterClrMapping/>
  </p:clrMapOvr>
  <p:hf hdr="0" ft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99A559-37E2-4DD1-8571-ED901D41D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60A3E07-8463-4576-BFB8-4FCC231AB247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38FC236E-013F-4060-A771-D9388B784A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DEB6E044-0575-49EB-A31A-12D37D1AD0A6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4D562F97-6E97-43D4-994D-0A52AA131563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275571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D5A8754D-504A-E544-663B-C75A77B34E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1" y="225699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256339"/>
      </p:ext>
    </p:extLst>
  </p:cSld>
  <p:clrMapOvr>
    <a:masterClrMapping/>
  </p:clrMapOvr>
  <p:hf hdr="0" ft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99A559-37E2-4DD1-8571-ED901D41D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60A3E07-8463-4576-BFB8-4FCC231AB247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38FC236E-013F-4060-A771-D9388B784A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8" y="6300221"/>
            <a:ext cx="1233071" cy="442816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DEB6E044-0575-49EB-A31A-12D37D1AD0A6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4D562F97-6E97-43D4-994D-0A52AA131563}"/>
              </a:ext>
            </a:extLst>
          </p:cNvPr>
          <p:cNvSpPr txBox="1">
            <a:spLocks/>
          </p:cNvSpPr>
          <p:nvPr userDrawn="1"/>
        </p:nvSpPr>
        <p:spPr>
          <a:xfrm>
            <a:off x="306266" y="6362068"/>
            <a:ext cx="2275571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D5A8754D-504A-E544-663B-C75A77B34E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1" y="225699"/>
            <a:ext cx="1939157" cy="75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411068"/>
      </p:ext>
    </p:extLst>
  </p:cSld>
  <p:clrMapOvr>
    <a:masterClrMapping/>
  </p:clrMapOvr>
  <p:hf hdr="0" ft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ítulo y objeto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23B0B8-AF4E-4772-B211-71B3D1DD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8" y="6337896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C1AF250-82BD-4487-AE36-B7878660DB59}"/>
              </a:ext>
            </a:extLst>
          </p:cNvPr>
          <p:cNvCxnSpPr>
            <a:cxnSpLocks/>
          </p:cNvCxnSpPr>
          <p:nvPr userDrawn="1"/>
        </p:nvCxnSpPr>
        <p:spPr>
          <a:xfrm>
            <a:off x="10587981" y="6313723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F375EB8E-3BCB-4783-BA02-63B6BC4F41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CD95C39D-1678-4144-854F-6707ACA0A64E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1194818" y="5123707"/>
            <a:ext cx="1773837" cy="22052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tx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BCA5982C-58D0-42AB-B818-0FBB3CCA2734}"/>
              </a:ext>
            </a:extLst>
          </p:cNvPr>
          <p:cNvSpPr txBox="1">
            <a:spLocks/>
          </p:cNvSpPr>
          <p:nvPr userDrawn="1"/>
        </p:nvSpPr>
        <p:spPr>
          <a:xfrm>
            <a:off x="306264" y="6362068"/>
            <a:ext cx="2216118" cy="365125"/>
          </a:xfrm>
          <a:prstGeom prst="rect">
            <a:avLst/>
          </a:prstGeom>
        </p:spPr>
        <p:txBody>
          <a:bodyPr vert="horz" lIns="80683" tIns="40341" rIns="80683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Gráfico 18">
            <a:extLst>
              <a:ext uri="{FF2B5EF4-FFF2-40B4-BE49-F238E27FC236}">
                <a16:creationId xmlns:a16="http://schemas.microsoft.com/office/drawing/2014/main" id="{9AD03423-7102-F2AF-160D-8E286C0581D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1093" y="287710"/>
            <a:ext cx="1824723" cy="63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078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1 - 90 añ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537B9D68-8629-0DB9-8D51-0AB109551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4325" y="4305126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C1600941-86E2-B69B-ED30-8A311252B1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325" y="5205262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EC76E6C-06F7-5C52-1173-8966F121D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25" y="630492"/>
            <a:ext cx="3746389" cy="192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5565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2 - 90 añ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F321277-7840-BA53-930F-F992F4B88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25" y="630492"/>
            <a:ext cx="3746389" cy="1922382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78263A5-313A-DB5E-1FB9-DAEBD0A088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4" y="4397671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BCBE2B2F-2342-F4E6-1955-FF581A33D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4" y="5297807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4318943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80297140-0A82-8526-F333-F359BC826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5556" y="4721145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21EB0AC0-3EB8-20A9-8F78-1E262C94C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5556" y="5621281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08865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8E625071-867F-88AA-53E4-15D6E5952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6" y="4758964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4D068ECC-943E-2515-0AF4-E20985B55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5659100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0063838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A4B441-847C-9C95-4C3A-7622CA622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06" y="2155893"/>
            <a:ext cx="3746389" cy="1922382"/>
          </a:xfrm>
          <a:prstGeom prst="rect">
            <a:avLst/>
          </a:prstGeom>
        </p:spPr>
      </p:pic>
      <p:sp>
        <p:nvSpPr>
          <p:cNvPr id="7" name="Subtítulo 2">
            <a:extLst>
              <a:ext uri="{FF2B5EF4-FFF2-40B4-BE49-F238E27FC236}">
                <a16:creationId xmlns:a16="http://schemas.microsoft.com/office/drawing/2014/main" id="{69BCC850-1A8E-D999-2062-0E1489BD8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5" y="4305194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5880728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4" y="3878997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4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7" name="Rectángulo">
            <a:extLst>
              <a:ext uri="{FF2B5EF4-FFF2-40B4-BE49-F238E27FC236}">
                <a16:creationId xmlns:a16="http://schemas.microsoft.com/office/drawing/2014/main" id="{F38B2254-1432-4197-8EC5-C21250AEFF61}"/>
              </a:ext>
            </a:extLst>
          </p:cNvPr>
          <p:cNvSpPr/>
          <p:nvPr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2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275566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Imagen 4" descr="Logotipo, Icono&#10;&#10;Descripción generada automáticamente">
            <a:extLst>
              <a:ext uri="{FF2B5EF4-FFF2-40B4-BE49-F238E27FC236}">
                <a16:creationId xmlns:a16="http://schemas.microsoft.com/office/drawing/2014/main" id="{D1A48F75-D143-B028-6E38-D32040281C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9036" y="3645212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073121"/>
      </p:ext>
    </p:extLst>
  </p:cSld>
  <p:clrMapOvr>
    <a:masterClrMapping/>
  </p:clrMapOvr>
  <p:hf hdr="0" ftr="0" dt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4" y="3878997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4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7" name="Rectángulo">
            <a:extLst>
              <a:ext uri="{FF2B5EF4-FFF2-40B4-BE49-F238E27FC236}">
                <a16:creationId xmlns:a16="http://schemas.microsoft.com/office/drawing/2014/main" id="{F38B2254-1432-4197-8EC5-C21250AEFF61}"/>
              </a:ext>
            </a:extLst>
          </p:cNvPr>
          <p:cNvSpPr/>
          <p:nvPr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2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275566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Imagen 14" descr="Logotipo, Icono&#10;&#10;Descripción generada automáticamente">
            <a:extLst>
              <a:ext uri="{FF2B5EF4-FFF2-40B4-BE49-F238E27FC236}">
                <a16:creationId xmlns:a16="http://schemas.microsoft.com/office/drawing/2014/main" id="{8B1E9A0C-17ED-01BC-2D5A-59ACD3E9BE4F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3885" y="3648373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751837"/>
      </p:ext>
    </p:extLst>
  </p:cSld>
  <p:clrMapOvr>
    <a:masterClrMapping/>
  </p:clrMapOvr>
  <p:hf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4" y="4397671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4" y="5297807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53035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Imagen 6" descr="Logotipo, Icono&#10;&#10;Descripción generada automáticamente">
            <a:extLst>
              <a:ext uri="{FF2B5EF4-FFF2-40B4-BE49-F238E27FC236}">
                <a16:creationId xmlns:a16="http://schemas.microsoft.com/office/drawing/2014/main" id="{AF99DC35-6E37-510E-86E4-346EFDA4E5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956" y="3220568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35069"/>
      </p:ext>
    </p:extLst>
  </p:cSld>
  <p:clrMapOvr>
    <a:masterClrMapping/>
  </p:clrMapOvr>
  <p:hf hdr="0" ftr="0" dt="0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4" y="4397671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4" y="5297807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53035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Imagen 6" descr="Logotipo, Icono&#10;&#10;Descripción generada automáticamente">
            <a:extLst>
              <a:ext uri="{FF2B5EF4-FFF2-40B4-BE49-F238E27FC236}">
                <a16:creationId xmlns:a16="http://schemas.microsoft.com/office/drawing/2014/main" id="{EDF47380-5D80-C5B6-2DC9-E88EE0FF822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956" y="3226819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478502"/>
      </p:ext>
    </p:extLst>
  </p:cSld>
  <p:clrMapOvr>
    <a:masterClrMapping/>
  </p:clrMapOvr>
  <p:hf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38" y="1564183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38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623778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B21A9555-14D4-73C9-D7B4-4AC08FC7AC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328" y="484775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986987"/>
      </p:ext>
    </p:extLst>
  </p:cSld>
  <p:clrMapOvr>
    <a:masterClrMapping/>
  </p:clrMapOvr>
  <p:hf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38" y="1564183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38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623778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B21A9555-14D4-73C9-D7B4-4AC08FC7ACF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328" y="484775"/>
            <a:ext cx="2569227" cy="100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52329"/>
      </p:ext>
    </p:extLst>
  </p:cSld>
  <p:clrMapOvr>
    <a:masterClrMapping/>
  </p:clrMapOvr>
  <p:hf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6" y="4138332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564329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5541268-6A3A-B430-B92B-166CEE34C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202" y="5479731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326211"/>
      </p:ext>
    </p:extLst>
  </p:cSld>
  <p:clrMapOvr>
    <a:masterClrMapping/>
  </p:clrMapOvr>
  <p:hf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43B97E-5761-4142-B169-E70AF0EBA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6" y="4138332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A2CB70-15A2-4064-91C9-C0316B6EA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B71207-351C-4A38-AA86-D2FCD3A7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AD87BAA-A944-4E1C-8348-D14E0CD554C2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ubtítulo 2">
            <a:extLst>
              <a:ext uri="{FF2B5EF4-FFF2-40B4-BE49-F238E27FC236}">
                <a16:creationId xmlns:a16="http://schemas.microsoft.com/office/drawing/2014/main" id="{674EF986-C5DB-46BE-9451-7777A4D6E298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564329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D6AADF75-181F-40DB-928C-4A138E628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B7697F83-C8B7-4346-85E8-A196647D4D8A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5541268-6A3A-B430-B92B-166CEE34CD7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202" y="5479731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084357"/>
      </p:ext>
    </p:extLst>
  </p:cSld>
  <p:clrMapOvr>
    <a:masterClrMapping/>
  </p:clrMapOvr>
  <p:hf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1">
            <a:extLst>
              <a:ext uri="{FF2B5EF4-FFF2-40B4-BE49-F238E27FC236}">
                <a16:creationId xmlns:a16="http://schemas.microsoft.com/office/drawing/2014/main" id="{508C51D1-E784-49FC-A10E-45DCF5412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1564" y="3878997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AB671F00-FA4D-44B1-BDD4-E428ECB99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564" y="4779133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27" name="Rectángulo">
            <a:extLst>
              <a:ext uri="{FF2B5EF4-FFF2-40B4-BE49-F238E27FC236}">
                <a16:creationId xmlns:a16="http://schemas.microsoft.com/office/drawing/2014/main" id="{E9C19E82-311E-4507-BFDD-6F54D9CABE2E}"/>
              </a:ext>
            </a:extLst>
          </p:cNvPr>
          <p:cNvSpPr/>
          <p:nvPr/>
        </p:nvSpPr>
        <p:spPr>
          <a:xfrm>
            <a:off x="1523999" y="3722914"/>
            <a:ext cx="7139165" cy="88130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2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70021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Gráfico 18">
            <a:extLst>
              <a:ext uri="{FF2B5EF4-FFF2-40B4-BE49-F238E27FC236}">
                <a16:creationId xmlns:a16="http://schemas.microsoft.com/office/drawing/2014/main" id="{9470649C-DFE0-2CDC-522F-66DD42B49B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8323" y="3722913"/>
            <a:ext cx="2536069" cy="8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115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394469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E2E90C22-0DE3-4766-A1BB-2026B8AB6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4" y="4397671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23A48ACA-1A1E-4EAD-ABE4-732E1554E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4" y="5297807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5F0CD0D-0629-8D5F-049D-91A27552B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808" y="2435440"/>
            <a:ext cx="3280375" cy="168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073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36049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5FDF1034-9D25-488F-81BF-695C39098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38" y="1549354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B64B71BA-AEA5-4DFC-81E8-27A3F87085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38" y="2449490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B0295510-A358-0BE3-4277-9861C37A22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9538" y="548174"/>
            <a:ext cx="2536070" cy="8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717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8872" y="6351888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58131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6C20B4A8-0A2A-42D9-82A5-891CA1F61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6" y="4138332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4E197AA1-A037-44B6-892C-3F1192271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F3CF4B6-99B0-8BA6-2CE8-B4C20482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846" y="5494195"/>
            <a:ext cx="2221980" cy="114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077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50389F3C-F4C4-45B0-80F6-7973FC9E715F}"/>
              </a:ext>
            </a:extLst>
          </p:cNvPr>
          <p:cNvSpPr/>
          <p:nvPr/>
        </p:nvSpPr>
        <p:spPr>
          <a:xfrm>
            <a:off x="3288572" y="0"/>
            <a:ext cx="8903428" cy="6858000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5" y="6362068"/>
            <a:ext cx="2462414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E2E90C22-0DE3-4766-A1BB-2026B8AB6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2454" y="4397671"/>
            <a:ext cx="6242729" cy="858339"/>
          </a:xfrm>
        </p:spPr>
        <p:txBody>
          <a:bodyPr anchor="b">
            <a:noAutofit/>
          </a:bodyPr>
          <a:lstStyle>
            <a:lvl1pPr algn="r">
              <a:lnSpc>
                <a:spcPct val="80000"/>
              </a:lnSpc>
              <a:defRPr sz="3177">
                <a:effectLst/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23A48ACA-1A1E-4EAD-ABE4-732E1554E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2454" y="5297807"/>
            <a:ext cx="6242729" cy="365125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effectLst/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7A156EC-7A48-8BCC-345A-509582A81A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808" y="2587372"/>
            <a:ext cx="3280375" cy="168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499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BB69F40-78E6-4E7D-942E-D48A83F9B8BB}"/>
              </a:ext>
            </a:extLst>
          </p:cNvPr>
          <p:cNvSpPr/>
          <p:nvPr/>
        </p:nvSpPr>
        <p:spPr>
          <a:xfrm flipH="1">
            <a:off x="0" y="0"/>
            <a:ext cx="8903428" cy="6858000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A55A36E7-AC6E-417E-BCD1-BFF32FA9FBCD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áfico 2">
            <a:extLst>
              <a:ext uri="{FF2B5EF4-FFF2-40B4-BE49-F238E27FC236}">
                <a16:creationId xmlns:a16="http://schemas.microsoft.com/office/drawing/2014/main" id="{DF640C75-A05B-431E-BD3E-4FC7DC4A92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5" y="6362068"/>
            <a:ext cx="2536069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7E69CF11-4305-42E0-8DC3-C2BA5DC1E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9538" y="548174"/>
            <a:ext cx="2536070" cy="884494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2478EF96-255E-4437-9F7B-C344B0354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538" y="1564183"/>
            <a:ext cx="6242729" cy="858339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7" name="Subtítulo 2">
            <a:extLst>
              <a:ext uri="{FF2B5EF4-FFF2-40B4-BE49-F238E27FC236}">
                <a16:creationId xmlns:a16="http://schemas.microsoft.com/office/drawing/2014/main" id="{7E70A27B-37BE-4E65-BB74-D433900A54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538" y="2464319"/>
            <a:ext cx="6242729" cy="365125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29999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037E542D-6EF4-40FC-B482-30158BD3D149}"/>
              </a:ext>
            </a:extLst>
          </p:cNvPr>
          <p:cNvSpPr/>
          <p:nvPr/>
        </p:nvSpPr>
        <p:spPr>
          <a:xfrm rot="16200000" flipH="1">
            <a:off x="4239796" y="-1094205"/>
            <a:ext cx="3712410" cy="12192001"/>
          </a:xfrm>
          <a:prstGeom prst="rect">
            <a:avLst/>
          </a:prstGeom>
          <a:gradFill>
            <a:gsLst>
              <a:gs pos="0">
                <a:schemeClr val="bg1">
                  <a:alpha val="80000"/>
                </a:schemeClr>
              </a:gs>
              <a:gs pos="50000">
                <a:schemeClr val="bg1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588"/>
          </a:p>
        </p:txBody>
      </p:sp>
      <p:sp>
        <p:nvSpPr>
          <p:cNvPr id="26" name="Marcador de número de diapositiva 5">
            <a:extLst>
              <a:ext uri="{FF2B5EF4-FFF2-40B4-BE49-F238E27FC236}">
                <a16:creationId xmlns:a16="http://schemas.microsoft.com/office/drawing/2014/main" id="{6F64F3CE-91B5-420A-9326-140142E4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3135" y="6362068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sp>
        <p:nvSpPr>
          <p:cNvPr id="11" name="Subtítulo 2">
            <a:extLst>
              <a:ext uri="{FF2B5EF4-FFF2-40B4-BE49-F238E27FC236}">
                <a16:creationId xmlns:a16="http://schemas.microsoft.com/office/drawing/2014/main" id="{F5543B75-DDC9-454D-AB72-07F1FC6B7D44}"/>
              </a:ext>
            </a:extLst>
          </p:cNvPr>
          <p:cNvSpPr txBox="1">
            <a:spLocks/>
          </p:cNvSpPr>
          <p:nvPr/>
        </p:nvSpPr>
        <p:spPr>
          <a:xfrm rot="16200000">
            <a:off x="11194819" y="917643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246402F9-4D1B-4505-B576-CB1B0FBBDFF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335016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tx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tx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tx1"/>
              </a:solidFill>
              <a:latin typeface="Avenir Next Medium" panose="020B0603020202020204" pitchFamily="34" charset="0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6C20B4A8-0A2A-42D9-82A5-891CA1F61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4636" y="4138332"/>
            <a:ext cx="6242729" cy="858339"/>
          </a:xfrm>
        </p:spPr>
        <p:txBody>
          <a:bodyPr anchor="b">
            <a:noAutofit/>
          </a:bodyPr>
          <a:lstStyle>
            <a:lvl1pPr algn="ctr">
              <a:lnSpc>
                <a:spcPct val="80000"/>
              </a:lnSpc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4E197AA1-A037-44B6-892C-3F1192271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4636" y="5038468"/>
            <a:ext cx="6242729" cy="36512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latin typeface="Avenir Next" panose="020B0503020202020204" pitchFamily="34" charset="0"/>
              </a:defRPr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94FDEDB-BB6E-D6B8-335A-CBDC2ACEB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846" y="5494195"/>
            <a:ext cx="2221980" cy="114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121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2" y="1280160"/>
            <a:ext cx="11521355" cy="471569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1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ítulo 1">
            <a:extLst>
              <a:ext uri="{FF2B5EF4-FFF2-40B4-BE49-F238E27FC236}">
                <a16:creationId xmlns:a16="http://schemas.microsoft.com/office/drawing/2014/main" id="{114232E0-A0B8-414F-BFBD-6335781D5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6" y="234548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Marcador de número de diapositiva 5">
            <a:extLst>
              <a:ext uri="{FF2B5EF4-FFF2-40B4-BE49-F238E27FC236}">
                <a16:creationId xmlns:a16="http://schemas.microsoft.com/office/drawing/2014/main" id="{F3E9FCD0-3A2B-4931-A57C-8450B37E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9B81A4-05C9-46D7-8812-6C902272D490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áfico 9">
            <a:extLst>
              <a:ext uri="{FF2B5EF4-FFF2-40B4-BE49-F238E27FC236}">
                <a16:creationId xmlns:a16="http://schemas.microsoft.com/office/drawing/2014/main" id="{3D59DB55-2BA0-48E4-99AD-A990B456B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7" name="Subtítulo 2">
            <a:extLst>
              <a:ext uri="{FF2B5EF4-FFF2-40B4-BE49-F238E27FC236}">
                <a16:creationId xmlns:a16="http://schemas.microsoft.com/office/drawing/2014/main" id="{B17B070F-9108-4391-AD07-36FE81B3F768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8F7950BE-34DE-4B47-9298-7F02465D90A0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385975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Imagen 1" descr="Logotipo, Icono&#10;&#10;Descripción generada automáticamente">
            <a:extLst>
              <a:ext uri="{FF2B5EF4-FFF2-40B4-BE49-F238E27FC236}">
                <a16:creationId xmlns:a16="http://schemas.microsoft.com/office/drawing/2014/main" id="{C60F3F6A-D901-B88A-301C-783EA0EAB8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0" y="225700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9822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2" y="1280160"/>
            <a:ext cx="11521355" cy="471569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1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ítulo 1">
            <a:extLst>
              <a:ext uri="{FF2B5EF4-FFF2-40B4-BE49-F238E27FC236}">
                <a16:creationId xmlns:a16="http://schemas.microsoft.com/office/drawing/2014/main" id="{114232E0-A0B8-414F-BFBD-6335781D5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6" y="234548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9" name="Marcador de número de diapositiva 5">
            <a:extLst>
              <a:ext uri="{FF2B5EF4-FFF2-40B4-BE49-F238E27FC236}">
                <a16:creationId xmlns:a16="http://schemas.microsoft.com/office/drawing/2014/main" id="{F3E9FCD0-3A2B-4931-A57C-8450B37E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9B81A4-05C9-46D7-8812-6C902272D490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áfico 9">
            <a:extLst>
              <a:ext uri="{FF2B5EF4-FFF2-40B4-BE49-F238E27FC236}">
                <a16:creationId xmlns:a16="http://schemas.microsoft.com/office/drawing/2014/main" id="{3D59DB55-2BA0-48E4-99AD-A990B456B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17" name="Subtítulo 2">
            <a:extLst>
              <a:ext uri="{FF2B5EF4-FFF2-40B4-BE49-F238E27FC236}">
                <a16:creationId xmlns:a16="http://schemas.microsoft.com/office/drawing/2014/main" id="{B17B070F-9108-4391-AD07-36FE81B3F768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8F7950BE-34DE-4B47-9298-7F02465D90A0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385975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Imagen 1" descr="Logotipo, Icono&#10;&#10;Descripción generada automáticamente">
            <a:extLst>
              <a:ext uri="{FF2B5EF4-FFF2-40B4-BE49-F238E27FC236}">
                <a16:creationId xmlns:a16="http://schemas.microsoft.com/office/drawing/2014/main" id="{9CA6321D-7B01-7334-BBF5-BE2DA5FD1D6F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0" y="225700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172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ítulo y objeto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10BBB9-CACB-4062-BDD5-89B6ED03E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842" y="1280160"/>
            <a:ext cx="11521355" cy="47156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E519DCCA-0C8E-406B-8A6A-4A12DE06F0A2}"/>
              </a:ext>
            </a:extLst>
          </p:cNvPr>
          <p:cNvCxnSpPr>
            <a:cxnSpLocks/>
          </p:cNvCxnSpPr>
          <p:nvPr/>
        </p:nvCxnSpPr>
        <p:spPr>
          <a:xfrm>
            <a:off x="9747255" y="298451"/>
            <a:ext cx="0" cy="625659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20956670-5A7F-49D4-8722-176461DF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98C3BA5-13A6-4C67-9E38-A11D21214C24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ítulo 1">
            <a:extLst>
              <a:ext uri="{FF2B5EF4-FFF2-40B4-BE49-F238E27FC236}">
                <a16:creationId xmlns:a16="http://schemas.microsoft.com/office/drawing/2014/main" id="{EF6EAF07-730A-4E35-915E-D653A3202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156" y="234548"/>
            <a:ext cx="7410787" cy="858339"/>
          </a:xfrm>
        </p:spPr>
        <p:txBody>
          <a:bodyPr anchor="b">
            <a:noAutofit/>
          </a:bodyPr>
          <a:lstStyle>
            <a:lvl1pPr algn="l">
              <a:defRPr sz="3177">
                <a:solidFill>
                  <a:schemeClr val="bg1"/>
                </a:solidFill>
                <a:latin typeface="Vice City Sans" panose="02000000000000000000" pitchFamily="50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3FFF5260-7128-4E59-A75B-BB53F0308A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78A9F594-838A-45CA-B7A3-101BEA134EAF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tx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Subtítulo 2">
            <a:extLst>
              <a:ext uri="{FF2B5EF4-FFF2-40B4-BE49-F238E27FC236}">
                <a16:creationId xmlns:a16="http://schemas.microsoft.com/office/drawing/2014/main" id="{73271241-B6E9-4D53-B2D0-9A222A7A6E45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224612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6" name="Gráfico 18">
            <a:extLst>
              <a:ext uri="{FF2B5EF4-FFF2-40B4-BE49-F238E27FC236}">
                <a16:creationId xmlns:a16="http://schemas.microsoft.com/office/drawing/2014/main" id="{D62B7823-71B9-BE40-1CA4-29D22B6DFF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1092" y="287709"/>
            <a:ext cx="1824723" cy="63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561111"/>
      </p:ext>
    </p:extLst>
  </p:cSld>
  <p:clrMapOvr>
    <a:masterClrMapping/>
  </p:clrMapOvr>
  <p:hf hdr="0" ftr="0" dt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99A559-37E2-4DD1-8571-ED901D41D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60A3E07-8463-4576-BFB8-4FCC231AB247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38FC236E-013F-4060-A771-D9388B784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DEB6E044-0575-49EB-A31A-12D37D1AD0A6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4D562F97-6E97-43D4-994D-0A52AA131563}"/>
              </a:ext>
            </a:extLst>
          </p:cNvPr>
          <p:cNvSpPr txBox="1">
            <a:spLocks/>
          </p:cNvSpPr>
          <p:nvPr/>
        </p:nvSpPr>
        <p:spPr>
          <a:xfrm>
            <a:off x="306265" y="6362068"/>
            <a:ext cx="2275571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D5A8754D-504A-E544-663B-C75A77B34E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0" y="225700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3685"/>
      </p:ext>
    </p:extLst>
  </p:cSld>
  <p:clrMapOvr>
    <a:masterClrMapping/>
  </p:clrMapOvr>
  <p:hf hdr="0" ftr="0" dt="0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99A559-37E2-4DD1-8571-ED901D41D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60A3E07-8463-4576-BFB8-4FCC231AB247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38FC236E-013F-4060-A771-D9388B784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9176" y="6300221"/>
            <a:ext cx="1233071" cy="442816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DEB6E044-0575-49EB-A31A-12D37D1AD0A6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bg1">
                    <a:lumMod val="75000"/>
                  </a:schemeClr>
                </a:solidFill>
              </a:rPr>
              <a:t>Vigilada Mineducación</a:t>
            </a:r>
            <a:endParaRPr lang="es-CO" sz="1059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4D562F97-6E97-43D4-994D-0A52AA131563}"/>
              </a:ext>
            </a:extLst>
          </p:cNvPr>
          <p:cNvSpPr txBox="1">
            <a:spLocks/>
          </p:cNvSpPr>
          <p:nvPr/>
        </p:nvSpPr>
        <p:spPr>
          <a:xfrm>
            <a:off x="306265" y="6362068"/>
            <a:ext cx="2275571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>
                  <a:lumMod val="65000"/>
                </a:schemeClr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D5A8754D-504A-E544-663B-C75A77B34E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710" y="225700"/>
            <a:ext cx="1939157" cy="7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117575"/>
      </p:ext>
    </p:extLst>
  </p:cSld>
  <p:clrMapOvr>
    <a:masterClrMapping/>
  </p:clrMapOvr>
  <p:hf hdr="0" ftr="0" dt="0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ítulo y objeto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23B0B8-AF4E-4772-B211-71B3D1DD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4187" y="6337895"/>
            <a:ext cx="632601" cy="365125"/>
          </a:xfrm>
        </p:spPr>
        <p:txBody>
          <a:bodyPr/>
          <a:lstStyle>
            <a:lvl1pPr>
              <a:defRPr sz="1000"/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C1AF250-82BD-4487-AE36-B7878660DB59}"/>
              </a:ext>
            </a:extLst>
          </p:cNvPr>
          <p:cNvCxnSpPr>
            <a:cxnSpLocks/>
          </p:cNvCxnSpPr>
          <p:nvPr/>
        </p:nvCxnSpPr>
        <p:spPr>
          <a:xfrm>
            <a:off x="10587981" y="6313724"/>
            <a:ext cx="0" cy="413470"/>
          </a:xfrm>
          <a:prstGeom prst="line">
            <a:avLst/>
          </a:prstGeom>
          <a:ln>
            <a:solidFill>
              <a:srgbClr val="CA28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F375EB8E-3BCB-4783-BA02-63B6BC4F41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5605" y="6303607"/>
            <a:ext cx="1179526" cy="423587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CD95C39D-1678-4144-854F-6707ACA0A64E}"/>
              </a:ext>
            </a:extLst>
          </p:cNvPr>
          <p:cNvSpPr txBox="1">
            <a:spLocks/>
          </p:cNvSpPr>
          <p:nvPr/>
        </p:nvSpPr>
        <p:spPr>
          <a:xfrm rot="16200000">
            <a:off x="11194819" y="5123707"/>
            <a:ext cx="1773836" cy="220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venir Next" panose="020B0503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059">
                <a:solidFill>
                  <a:schemeClr val="tx1">
                    <a:lumMod val="50000"/>
                    <a:lumOff val="50000"/>
                  </a:schemeClr>
                </a:solidFill>
              </a:rPr>
              <a:t>Vigilada Mineducación</a:t>
            </a:r>
            <a:endParaRPr lang="es-CO" sz="1059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BCA5982C-58D0-42AB-B818-0FBB3CCA2734}"/>
              </a:ext>
            </a:extLst>
          </p:cNvPr>
          <p:cNvSpPr txBox="1">
            <a:spLocks/>
          </p:cNvSpPr>
          <p:nvPr/>
        </p:nvSpPr>
        <p:spPr>
          <a:xfrm>
            <a:off x="306264" y="6362068"/>
            <a:ext cx="2216119" cy="365125"/>
          </a:xfrm>
          <a:prstGeom prst="rect">
            <a:avLst/>
          </a:prstGeom>
        </p:spPr>
        <p:txBody>
          <a:bodyPr vert="horz" lIns="80682" tIns="40341" rIns="80682" bIns="40341" rtlCol="0">
            <a:normAutofit/>
          </a:bodyPr>
          <a:lstStyle>
            <a:lvl1pPr marL="0" indent="0" algn="r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  <a:lvl2pPr marL="518145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267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2pPr>
            <a:lvl3pPr marL="1036290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204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3pPr>
            <a:lvl4pPr marL="155443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4pPr>
            <a:lvl5pPr marL="207257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5pPr>
            <a:lvl6pPr marL="2590724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08869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27013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45158" indent="0" algn="ctr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None/>
              <a:defRPr sz="18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800" b="1" i="0">
                <a:solidFill>
                  <a:schemeClr val="bg1"/>
                </a:solidFill>
                <a:latin typeface="Avenir Next Medium" panose="020B0603020202020204" pitchFamily="34" charset="0"/>
              </a:rPr>
              <a:t>UPB #</a:t>
            </a:r>
            <a:r>
              <a:rPr lang="es-ES" sz="1800" b="1" i="0" err="1">
                <a:solidFill>
                  <a:schemeClr val="bg1"/>
                </a:solidFill>
                <a:latin typeface="Avenir Next Medium" panose="020B0603020202020204" pitchFamily="34" charset="0"/>
              </a:rPr>
              <a:t>SinLímites</a:t>
            </a:r>
            <a:endParaRPr lang="es-CO" sz="1800" b="1" i="0">
              <a:solidFill>
                <a:schemeClr val="bg1"/>
              </a:solidFill>
              <a:latin typeface="Avenir Next Medium" panose="020B0603020202020204" pitchFamily="34" charset="0"/>
            </a:endParaRPr>
          </a:p>
        </p:txBody>
      </p:sp>
      <p:pic>
        <p:nvPicPr>
          <p:cNvPr id="2" name="Gráfico 18">
            <a:extLst>
              <a:ext uri="{FF2B5EF4-FFF2-40B4-BE49-F238E27FC236}">
                <a16:creationId xmlns:a16="http://schemas.microsoft.com/office/drawing/2014/main" id="{9AD03423-7102-F2AF-160D-8E286C058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1092" y="287709"/>
            <a:ext cx="1824723" cy="63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94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448">
          <p15:clr>
            <a:srgbClr val="FBAE40"/>
          </p15:clr>
        </p15:guide>
        <p15:guide id="2" pos="43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slideLayout" Target="../slideLayouts/slideLayout43.xml"/><Relationship Id="rId26" Type="http://schemas.openxmlformats.org/officeDocument/2006/relationships/slideLayout" Target="../slideLayouts/slideLayout51.xml"/><Relationship Id="rId3" Type="http://schemas.openxmlformats.org/officeDocument/2006/relationships/slideLayout" Target="../slideLayouts/slideLayout28.xml"/><Relationship Id="rId21" Type="http://schemas.openxmlformats.org/officeDocument/2006/relationships/slideLayout" Target="../slideLayouts/slideLayout46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slideLayout" Target="../slideLayouts/slideLayout42.xml"/><Relationship Id="rId25" Type="http://schemas.openxmlformats.org/officeDocument/2006/relationships/slideLayout" Target="../slideLayouts/slideLayout50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20" Type="http://schemas.openxmlformats.org/officeDocument/2006/relationships/slideLayout" Target="../slideLayouts/slideLayout45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2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23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44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Relationship Id="rId22" Type="http://schemas.openxmlformats.org/officeDocument/2006/relationships/slideLayout" Target="../slideLayouts/slideLayout47.xml"/><Relationship Id="rId27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18" Type="http://schemas.openxmlformats.org/officeDocument/2006/relationships/slideLayout" Target="../slideLayouts/slideLayout69.xml"/><Relationship Id="rId26" Type="http://schemas.openxmlformats.org/officeDocument/2006/relationships/slideLayout" Target="../slideLayouts/slideLayout77.xml"/><Relationship Id="rId3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72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17" Type="http://schemas.openxmlformats.org/officeDocument/2006/relationships/slideLayout" Target="../slideLayouts/slideLayout68.xml"/><Relationship Id="rId25" Type="http://schemas.openxmlformats.org/officeDocument/2006/relationships/slideLayout" Target="../slideLayouts/slideLayout76.xml"/><Relationship Id="rId2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71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2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66.xml"/><Relationship Id="rId23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70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Relationship Id="rId22" Type="http://schemas.openxmlformats.org/officeDocument/2006/relationships/slideLayout" Target="../slideLayouts/slideLayout73.xml"/><Relationship Id="rId2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3562" y="287047"/>
            <a:ext cx="112942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563" y="1747546"/>
            <a:ext cx="11294289" cy="4169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519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B0325FA-493F-414B-9F4D-48D79DCD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5EA7632-4E47-4D76-AD2A-A7BB28E48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7D1B44-BC11-48C4-A76E-BB9406089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 Nova Light" panose="020B0304020202020204" pitchFamily="34" charset="0"/>
              </a:defRPr>
            </a:lvl1pPr>
          </a:lstStyle>
          <a:p>
            <a:fld id="{57B0B941-4A50-40E2-B280-513CE8BFB539}" type="datetimeFigureOut">
              <a:rPr lang="es-CO" smtClean="0"/>
              <a:pPr/>
              <a:t>14/10/2026</a:t>
            </a:fld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25E32E-CB67-48D4-B523-EA4227A21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26383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 Nova Light" panose="020B0304020202020204" pitchFamily="34" charset="0"/>
              </a:defRPr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50690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</p:sldLayoutIdLst>
  <p:hf hdr="0" ftr="0" dt="0"/>
  <p:txStyles>
    <p:titleStyle>
      <a:lvl1pPr algn="l" defTabSz="91428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75000"/>
              <a:lumOff val="25000"/>
            </a:schemeClr>
          </a:solidFill>
          <a:latin typeface="Arial Nova Light" panose="020B0304020202020204" pitchFamily="34" charset="0"/>
          <a:ea typeface="+mj-ea"/>
          <a:cs typeface="+mj-cs"/>
        </a:defRPr>
      </a:lvl1pPr>
    </p:titleStyle>
    <p:bodyStyle>
      <a:lvl1pPr marL="228569" indent="-228569" algn="l" defTabSz="91428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1pPr>
      <a:lvl2pPr marL="68570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2pPr>
      <a:lvl3pPr marL="114284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3pPr>
      <a:lvl4pPr marL="159998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4pPr>
      <a:lvl5pPr marL="205712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5pPr>
      <a:lvl6pPr marL="251426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0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4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89" indent="-228569" algn="l" defTabSz="91428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0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80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19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60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99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39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78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19" algn="l" defTabSz="91428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B0325FA-493F-414B-9F4D-48D79DCD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5EA7632-4E47-4D76-AD2A-A7BB28E48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7D1B44-BC11-48C4-A76E-BB9406089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 Nova Light" panose="020B0304020202020204" pitchFamily="34" charset="0"/>
              </a:defRPr>
            </a:lvl1pPr>
          </a:lstStyle>
          <a:p>
            <a:fld id="{57B0B941-4A50-40E2-B280-513CE8BFB539}" type="datetimeFigureOut">
              <a:rPr lang="es-CO" smtClean="0"/>
              <a:pPr/>
              <a:t>14/10/2026</a:t>
            </a:fld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25E32E-CB67-48D4-B523-EA4227A21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2638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 Nova Light" panose="020B0304020202020204" pitchFamily="34" charset="0"/>
              </a:defRPr>
            </a:lvl1pPr>
          </a:lstStyle>
          <a:p>
            <a:fld id="{B453E7C7-8AE5-4AED-AD03-ACF7236A778A}" type="slidenum">
              <a:rPr lang="es-CO" smtClean="0"/>
              <a:pPr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733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  <p:sldLayoutId id="2147483725" r:id="rId22"/>
    <p:sldLayoutId id="2147483726" r:id="rId23"/>
    <p:sldLayoutId id="2147483727" r:id="rId24"/>
    <p:sldLayoutId id="2147483728" r:id="rId25"/>
    <p:sldLayoutId id="2147483729" r:id="rId26"/>
  </p:sldLayoutIdLst>
  <p:hf hdr="0" ftr="0" dt="0"/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75000"/>
              <a:lumOff val="25000"/>
            </a:schemeClr>
          </a:solidFill>
          <a:latin typeface="Arial Nova Light" panose="020B0304020202020204" pitchFamily="34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Arial Nova Light" panose="020B0304020202020204" pitchFamily="34" charset="0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cesar.lopezg@upb.edu.co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netflixtechblog.com/ready-for-changes-with-hexagonal-architecture-b315ec967749" TargetMode="External"/><Relationship Id="rId3" Type="http://schemas.openxmlformats.org/officeDocument/2006/relationships/hyperlink" Target="https://cloudappi.net/introduccion-a-la-arquitectura-hexagonal/" TargetMode="External"/><Relationship Id="rId7" Type="http://schemas.openxmlformats.org/officeDocument/2006/relationships/hyperlink" Target="https://medium.com/jamf-engineering/hexagonal-architecture-in-software-development-acb08c458f6a" TargetMode="External"/><Relationship Id="rId2" Type="http://schemas.openxmlformats.org/officeDocument/2006/relationships/hyperlink" Target="https://docs.aws.amazon.com/es_es/prescriptive-guidance/latest/cloud-design-patterns/hexagonal-architecture.html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goodreads.com/book/show/231537868-hexagonal-architecture-explained" TargetMode="External"/><Relationship Id="rId5" Type="http://schemas.openxmlformats.org/officeDocument/2006/relationships/hyperlink" Target="https://alistair.cockburn.us/hexagonal-architecture" TargetMode="External"/><Relationship Id="rId4" Type="http://schemas.openxmlformats.org/officeDocument/2006/relationships/hyperlink" Target="https://chakray.com/es/arquitectura-hexagonal-guia-completa-para-un-diseno-de-software-robusto-y-testeable/" TargetMode="External"/><Relationship Id="rId9" Type="http://schemas.openxmlformats.org/officeDocument/2006/relationships/hyperlink" Target="https://github.com/aws-samples/aws-lambda-domain-model-sample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CB327D79-BB44-4E95-9C78-66D1BA69F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94109" y="3418544"/>
            <a:ext cx="5093909" cy="1585238"/>
          </a:xfrm>
        </p:spPr>
        <p:txBody>
          <a:bodyPr>
            <a:normAutofit/>
          </a:bodyPr>
          <a:lstStyle/>
          <a:p>
            <a:pPr algn="r"/>
            <a:r>
              <a:rPr lang="es-ES" sz="3600" i="1" dirty="0">
                <a:solidFill>
                  <a:schemeClr val="bg1">
                    <a:lumMod val="50000"/>
                  </a:schemeClr>
                </a:solidFill>
              </a:rPr>
              <a:t>Introducción a la arquitectura hexagonal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C860B381-63A3-4410-8AFF-671E8ACEF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2880" y="5277995"/>
            <a:ext cx="5985138" cy="134995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s-ES" sz="1667" dirty="0"/>
              <a:t>MSc. César Augusto López Gallego</a:t>
            </a:r>
          </a:p>
          <a:p>
            <a:pPr>
              <a:spcBef>
                <a:spcPts val="0"/>
              </a:spcBef>
            </a:pPr>
            <a:r>
              <a:rPr lang="es-ES" sz="1667" dirty="0"/>
              <a:t>Profesor Facultad Ingeniería en TIC – UPB</a:t>
            </a:r>
          </a:p>
          <a:p>
            <a:pPr>
              <a:spcBef>
                <a:spcPts val="0"/>
              </a:spcBef>
            </a:pPr>
            <a:r>
              <a:rPr lang="es-ES" sz="1667" dirty="0"/>
              <a:t>Coordinador Área de Programación, Computación y Desarrollo de Software</a:t>
            </a:r>
          </a:p>
          <a:p>
            <a:pPr>
              <a:spcBef>
                <a:spcPts val="0"/>
              </a:spcBef>
            </a:pPr>
            <a:r>
              <a:rPr lang="es-ES" sz="1667" dirty="0">
                <a:hlinkClick r:id="rId3"/>
              </a:rPr>
              <a:t>cesar.lopezg@upb.edu.co</a:t>
            </a:r>
            <a:endParaRPr lang="es-ES" sz="1667" dirty="0"/>
          </a:p>
        </p:txBody>
      </p:sp>
    </p:spTree>
    <p:extLst>
      <p:ext uri="{BB962C8B-B14F-4D97-AF65-F5344CB8AC3E}">
        <p14:creationId xmlns:p14="http://schemas.microsoft.com/office/powerpoint/2010/main" val="278296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DEFINICIÓN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¿Qué es la arquitectura hexagonal?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852160" cy="2148840"/>
          </a:xfrm>
          <a:prstGeom prst="roundRect">
            <a:avLst>
              <a:gd name="adj" fmla="val 5957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5394960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lang="es-ES" sz="1400" b="0" i="0">
                <a:solidFill>
                  <a:srgbClr val="2B2B33"/>
                </a:solidFill>
              </a:rPr>
              <a:t>Patrón que </a:t>
            </a:r>
            <a:r>
              <a:rPr lang="es-ES" sz="1400" b="1" i="0">
                <a:solidFill>
                  <a:srgbClr val="2B2B33"/>
                </a:solidFill>
              </a:rPr>
              <a:t>aísla la lógica de negocio</a:t>
            </a:r>
            <a:r>
              <a:rPr lang="es-ES" sz="1400" b="0" i="0">
                <a:solidFill>
                  <a:srgbClr val="2B2B33"/>
                </a:solidFill>
              </a:rPr>
              <a:t> (el dominio) del código de infraestructura: bases de datos, APIs externas o interfaz de usuario.</a:t>
            </a:r>
          </a:p>
          <a:p>
            <a:pPr algn="l">
              <a:spcAft>
                <a:spcPts val="1000"/>
              </a:spcAft>
            </a:pPr>
            <a:r>
              <a:rPr lang="es-ES" sz="1400" b="0" i="0">
                <a:solidFill>
                  <a:srgbClr val="2B2B33"/>
                </a:solidFill>
              </a:rPr>
              <a:t>La aplicación se comunica con el exterior solo a través de </a:t>
            </a:r>
            <a:r>
              <a:rPr lang="es-ES" sz="1400" b="1" i="0">
                <a:solidFill>
                  <a:srgbClr val="2B2B33"/>
                </a:solidFill>
              </a:rPr>
              <a:t>puertos</a:t>
            </a:r>
            <a:r>
              <a:rPr lang="es-ES" sz="1400" b="0" i="0">
                <a:solidFill>
                  <a:srgbClr val="2B2B33"/>
                </a:solidFill>
              </a:rPr>
              <a:t> (interfaces), y los </a:t>
            </a:r>
            <a:r>
              <a:rPr lang="es-ES" sz="1400" b="1" i="0">
                <a:solidFill>
                  <a:srgbClr val="2B2B33"/>
                </a:solidFill>
              </a:rPr>
              <a:t>adaptadores</a:t>
            </a:r>
            <a:r>
              <a:rPr lang="es-ES" sz="1400" b="0" i="0">
                <a:solidFill>
                  <a:srgbClr val="2B2B33"/>
                </a:solidFill>
              </a:rPr>
              <a:t> traducen cada tecnología concreta.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03320"/>
            <a:ext cx="2834640" cy="731520"/>
          </a:xfrm>
          <a:prstGeom prst="roundRect">
            <a:avLst>
              <a:gd name="adj" fmla="val 15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36576" rIns="164592" bIns="36576" rtlCol="0" anchor="ctr"/>
          <a:lstStyle/>
          <a:p>
            <a:pPr algn="l"/>
            <a:r>
              <a:rPr lang="es-ES" sz="1200" b="1" i="0">
                <a:solidFill>
                  <a:srgbClr val="2B2B33"/>
                </a:solidFill>
              </a:rPr>
              <a:t>También llamada</a:t>
            </a:r>
          </a:p>
          <a:p>
            <a:pPr algn="l"/>
            <a:r>
              <a:rPr lang="es-ES" sz="1200" b="0" i="0">
                <a:solidFill>
                  <a:srgbClr val="2B2B33"/>
                </a:solidFill>
              </a:rPr>
              <a:t>Puertos y adaptadores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3703320"/>
            <a:ext cx="2834640" cy="731520"/>
          </a:xfrm>
          <a:prstGeom prst="roundRect">
            <a:avLst>
              <a:gd name="adj" fmla="val 15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36576" rIns="164592" bIns="36576" rtlCol="0" anchor="ctr"/>
          <a:lstStyle/>
          <a:p>
            <a:pPr algn="l"/>
            <a:r>
              <a:rPr lang="es-ES" sz="1200" b="1" i="0">
                <a:solidFill>
                  <a:srgbClr val="2B2B33"/>
                </a:solidFill>
              </a:rPr>
              <a:t>Propuesta por</a:t>
            </a:r>
          </a:p>
          <a:p>
            <a:pPr algn="l"/>
            <a:r>
              <a:rPr lang="es-ES" sz="1200" b="0" i="0">
                <a:solidFill>
                  <a:srgbClr val="2B2B33"/>
                </a:solidFill>
              </a:rPr>
              <a:t>Alistair Cockburn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834640" cy="731520"/>
          </a:xfrm>
          <a:prstGeom prst="roundRect">
            <a:avLst>
              <a:gd name="adj" fmla="val 15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36576" rIns="164592" bIns="36576" rtlCol="0" anchor="ctr"/>
          <a:lstStyle/>
          <a:p>
            <a:pPr algn="l"/>
            <a:r>
              <a:rPr lang="es-ES" sz="1200" b="1" i="0">
                <a:solidFill>
                  <a:srgbClr val="2B2B33"/>
                </a:solidFill>
              </a:rPr>
              <a:t>Año</a:t>
            </a:r>
          </a:p>
          <a:p>
            <a:pPr algn="l"/>
            <a:r>
              <a:rPr lang="es-ES" sz="1200" b="0" i="0">
                <a:solidFill>
                  <a:srgbClr val="2B2B33"/>
                </a:solidFill>
              </a:rPr>
              <a:t>2005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572000"/>
            <a:ext cx="2834640" cy="731520"/>
          </a:xfrm>
          <a:prstGeom prst="roundRect">
            <a:avLst>
              <a:gd name="adj" fmla="val 15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36576" rIns="164592" bIns="36576" rtlCol="0" anchor="ctr"/>
          <a:lstStyle/>
          <a:p>
            <a:pPr algn="l"/>
            <a:r>
              <a:rPr lang="es-ES" sz="1200" b="1" i="0">
                <a:solidFill>
                  <a:srgbClr val="2B2B33"/>
                </a:solidFill>
              </a:rPr>
              <a:t>Clasificación</a:t>
            </a:r>
          </a:p>
          <a:p>
            <a:pPr algn="l"/>
            <a:r>
              <a:rPr lang="es-ES" sz="1200" b="0" i="0">
                <a:solidFill>
                  <a:srgbClr val="2B2B33"/>
                </a:solidFill>
              </a:rPr>
              <a:t>Patrón estructural de objetos</a:t>
            </a:r>
          </a:p>
        </p:txBody>
      </p:sp>
      <p:sp>
        <p:nvSpPr>
          <p:cNvPr id="10" name="Hexagon 9"/>
          <p:cNvSpPr/>
          <p:nvPr/>
        </p:nvSpPr>
        <p:spPr>
          <a:xfrm>
            <a:off x="7086600" y="1828800"/>
            <a:ext cx="3291840" cy="2834640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500" b="1" i="0">
                <a:solidFill>
                  <a:srgbClr val="FFFFFF"/>
                </a:solidFill>
              </a:rPr>
              <a:t>Lógica de negocio</a:t>
            </a:r>
          </a:p>
          <a:p>
            <a:pPr algn="ctr"/>
            <a:r>
              <a:rPr lang="es-ES" sz="1500" b="0" i="0">
                <a:solidFill>
                  <a:srgbClr val="FFFFFF"/>
                </a:solidFill>
              </a:rPr>
              <a:t>el núcleo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1732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141732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Base de datos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461772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Pruebas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9800" y="4617720"/>
            <a:ext cx="141732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Correo</a:t>
            </a:r>
          </a:p>
        </p:txBody>
      </p:sp>
      <p:sp>
        <p:nvSpPr>
          <p:cNvPr id="15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AWS (s. f.); Cockburn (2005); Chakray (2025). Diagrama: elaboración propia.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COCKBURN (2005)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La intención, en palabras del autor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109960" cy="2331720"/>
          </a:xfrm>
          <a:prstGeom prst="roundRect">
            <a:avLst>
              <a:gd name="adj" fmla="val 6274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8000" b="1" i="0">
                <a:solidFill>
                  <a:srgbClr val="C9A6EC"/>
                </a:solidFill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554480"/>
            <a:ext cx="95097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lang="es-ES" sz="1700" b="0" i="1">
                <a:solidFill>
                  <a:srgbClr val="FFFFFF"/>
                </a:solidFill>
              </a:rPr>
              <a:t>“Allow an application to equally be driven by users, programs, automated test or batch scripts, and to be developed and tested in isolation from its eventual run-time devices and databases.”</a:t>
            </a:r>
          </a:p>
          <a:p>
            <a:pPr algn="l">
              <a:spcAft>
                <a:spcPts val="1000"/>
              </a:spcAft>
            </a:pPr>
            <a:r>
              <a:rPr lang="es-ES" sz="1700" b="0" i="1">
                <a:solidFill>
                  <a:srgbClr val="FFFFFF"/>
                </a:solidFill>
              </a:rPr>
              <a:t>— Alistair Cockburn, Hexagonal Architecture (2005)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1" i="0">
                <a:solidFill>
                  <a:srgbClr val="7A2FBF"/>
                </a:solidFill>
              </a:rPr>
              <a:t>TRADUCCIÓN PROPIA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09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350" b="0" i="0">
                <a:solidFill>
                  <a:srgbClr val="2B2B33"/>
                </a:solidFill>
              </a:rPr>
              <a:t>«Permitir que una aplicación sea conducida por igual por usuarios, programas, pruebas automatizadas o scripts por lotes, y que se desarrolle y pruebe aislada de los dispositivos y bases de datos con que finalmente se ejecutará.»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5486400" cy="594360"/>
          </a:xfrm>
          <a:prstGeom prst="roundRect">
            <a:avLst>
              <a:gd name="adj" fmla="val 18461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685800" y="4919472"/>
            <a:ext cx="457200" cy="397764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846320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1" i="0">
                <a:solidFill>
                  <a:srgbClr val="2B2B33"/>
                </a:solidFill>
              </a:rPr>
              <a:t>Conducida por cualquiera:</a:t>
            </a:r>
            <a:r>
              <a:rPr lang="es-ES" sz="1250" b="0" i="0">
                <a:solidFill>
                  <a:srgbClr val="2B2B33"/>
                </a:solidFill>
              </a:rPr>
              <a:t> usuarios, programas, pruebas o lotes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846320"/>
            <a:ext cx="5486400" cy="594360"/>
          </a:xfrm>
          <a:prstGeom prst="roundRect">
            <a:avLst>
              <a:gd name="adj" fmla="val 18461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3" name="Hexagon 12"/>
          <p:cNvSpPr/>
          <p:nvPr/>
        </p:nvSpPr>
        <p:spPr>
          <a:xfrm>
            <a:off x="6309360" y="4919472"/>
            <a:ext cx="457200" cy="397764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4846320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1" i="0">
                <a:solidFill>
                  <a:srgbClr val="2B2B33"/>
                </a:solidFill>
              </a:rPr>
              <a:t>Probada en aislamiento:</a:t>
            </a:r>
            <a:r>
              <a:rPr lang="es-ES" sz="1250" b="0" i="0">
                <a:solidFill>
                  <a:srgbClr val="2B2B33"/>
                </a:solidFill>
              </a:rPr>
              <a:t> sin la base de datos ni los dispositivos reales</a:t>
            </a:r>
          </a:p>
        </p:txBody>
      </p:sp>
      <p:sp>
        <p:nvSpPr>
          <p:cNvPr id="15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Cockburn, A. (2005). Hexagonal architecture. alistair.cockburn.us. Traducción propia.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LA IDEA CENTRAL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Adentro y afuera: por qué un hexágono</a:t>
            </a:r>
          </a:p>
        </p:txBody>
      </p:sp>
      <p:sp>
        <p:nvSpPr>
          <p:cNvPr id="4" name="Hexagon 3"/>
          <p:cNvSpPr/>
          <p:nvPr/>
        </p:nvSpPr>
        <p:spPr>
          <a:xfrm>
            <a:off x="640080" y="1417320"/>
            <a:ext cx="5120640" cy="3977639"/>
          </a:xfrm>
          <a:prstGeom prst="hexagon">
            <a:avLst/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00" b="1" i="0">
                <a:solidFill>
                  <a:srgbClr val="7A2FBF"/>
                </a:solidFill>
              </a:rPr>
              <a:t>AFUERA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7A2FBF"/>
                </a:solidFill>
              </a:rPr>
              <a:t>usuarios · programas · pruebas · bases de datos</a:t>
            </a:r>
          </a:p>
        </p:txBody>
      </p:sp>
      <p:sp>
        <p:nvSpPr>
          <p:cNvPr id="7" name="Hexagon 6"/>
          <p:cNvSpPr/>
          <p:nvPr/>
        </p:nvSpPr>
        <p:spPr>
          <a:xfrm>
            <a:off x="1737360" y="2240280"/>
            <a:ext cx="2926080" cy="2331720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500" b="1" i="0">
                <a:solidFill>
                  <a:srgbClr val="FFFFFF"/>
                </a:solidFill>
              </a:rPr>
              <a:t>ADENTRO</a:t>
            </a:r>
          </a:p>
          <a:p>
            <a:pPr algn="ctr"/>
            <a:r>
              <a:rPr lang="es-ES" sz="1500" b="0" i="0">
                <a:solidFill>
                  <a:srgbClr val="FFFFFF"/>
                </a:solidFill>
              </a:rPr>
              <a:t>la aplicación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>
              <a:gd name="adj" fmla="val 1037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499616"/>
            <a:ext cx="5166359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La asimetría que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75104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200" b="0" i="0">
                <a:solidFill>
                  <a:srgbClr val="2B2B33"/>
                </a:solidFill>
              </a:rPr>
              <a:t>Es </a:t>
            </a:r>
            <a:r>
              <a:rPr lang="es-ES" sz="1200" b="1" i="0">
                <a:solidFill>
                  <a:srgbClr val="2B2B33"/>
                </a:solidFill>
              </a:rPr>
              <a:t>adentro / afuera</a:t>
            </a:r>
            <a:r>
              <a:rPr lang="es-ES" sz="1200" b="0" i="0">
                <a:solidFill>
                  <a:srgbClr val="2B2B33"/>
                </a:solidFill>
              </a:rPr>
              <a:t>, no izquierda / derecha ni arriba / abajo. Todo lo externo se trata de forma simétrica.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743200"/>
            <a:ext cx="5486400" cy="1188720"/>
          </a:xfrm>
          <a:prstGeom prst="roundRect">
            <a:avLst>
              <a:gd name="adj" fmla="val 10769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200" b="1" i="0">
                <a:solidFill>
                  <a:srgbClr val="FFFFFF"/>
                </a:solidFill>
              </a:rPr>
              <a:t>La regla</a:t>
            </a:r>
          </a:p>
          <a:p>
            <a:pPr algn="l">
              <a:spcAft>
                <a:spcPts val="300"/>
              </a:spcAft>
            </a:pPr>
            <a:r>
              <a:rPr lang="es-ES" sz="1200" b="0" i="0">
                <a:solidFill>
                  <a:srgbClr val="FFFFFF"/>
                </a:solidFill>
              </a:rPr>
              <a:t>“code pertaining to the inside part should not leak into the outside part”</a:t>
            </a:r>
          </a:p>
          <a:p>
            <a:pPr algn="l">
              <a:spcAft>
                <a:spcPts val="300"/>
              </a:spcAft>
            </a:pPr>
            <a:r>
              <a:rPr lang="es-ES" sz="1200" b="0" i="0">
                <a:solidFill>
                  <a:srgbClr val="FFFFFF"/>
                </a:solidFill>
              </a:rPr>
              <a:t>El código del interior no debe filtrarse al exterior (trad. propia).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69080"/>
            <a:ext cx="5486400" cy="1325880"/>
          </a:xfrm>
          <a:prstGeom prst="roundRect">
            <a:avLst>
              <a:gd name="adj" fmla="val 9655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4197096"/>
            <a:ext cx="5166359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¿Por qué seis lados?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672584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No por el número seis: la forma deja espacio para dibujar varios puertos y adaptadores, a diferencia del diagrama de capas, que es unidimensional. Cockburn prefiere pocos puertos: «dos, tres o cuatro».</a:t>
            </a:r>
          </a:p>
        </p:txBody>
      </p:sp>
      <p:sp>
        <p:nvSpPr>
          <p:cNvPr id="16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Cockburn (2005); Aranda (2021), CloudAPPi. Diagrama: elaboración propia.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ELEMENTOS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 dirty="0">
                <a:solidFill>
                  <a:srgbClr val="2B2B33"/>
                </a:solidFill>
              </a:rPr>
              <a:t>Los elementos en un solo dibujo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1" i="0">
                <a:solidFill>
                  <a:srgbClr val="7A2FBF"/>
                </a:solidFill>
              </a:rPr>
              <a:t>LADO QUE CONDUCE · PRIMARIO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13258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1100" b="1" i="0">
                <a:solidFill>
                  <a:srgbClr val="D6006F"/>
                </a:solidFill>
              </a:rPr>
              <a:t>LADO CONDUCIDO · SECUNDARIO</a:t>
            </a:r>
          </a:p>
        </p:txBody>
      </p:sp>
      <p:sp>
        <p:nvSpPr>
          <p:cNvPr id="6" name="Hexagon 5"/>
          <p:cNvSpPr/>
          <p:nvPr/>
        </p:nvSpPr>
        <p:spPr>
          <a:xfrm>
            <a:off x="4069080" y="1737360"/>
            <a:ext cx="4069080" cy="3520440"/>
          </a:xfrm>
          <a:prstGeom prst="hexagon">
            <a:avLst/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7" name="Hexagon 6"/>
          <p:cNvSpPr/>
          <p:nvPr/>
        </p:nvSpPr>
        <p:spPr>
          <a:xfrm>
            <a:off x="4892040" y="2514600"/>
            <a:ext cx="2423160" cy="1965960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lang="es-ES" sz="1250" b="1" i="0">
                <a:solidFill>
                  <a:srgbClr val="FFFFFF"/>
                </a:solidFill>
              </a:rPr>
              <a:t>Dominio</a:t>
            </a:r>
          </a:p>
          <a:p>
            <a:pPr algn="ctr"/>
            <a:r>
              <a:rPr lang="es-ES" sz="1250" b="0" i="0">
                <a:solidFill>
                  <a:srgbClr val="FFFFFF"/>
                </a:solidFill>
              </a:rPr>
              <a:t>reglas de negocio y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325880" cy="685800"/>
          </a:xfrm>
          <a:prstGeom prst="roundRect">
            <a:avLst>
              <a:gd name="adj" fmla="val 16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 dirty="0">
                <a:solidFill>
                  <a:srgbClr val="2B2B33"/>
                </a:solidFill>
              </a:rPr>
              <a:t>Usuario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01952" y="2583180"/>
            <a:ext cx="265176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94560" y="224028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7A2FBF"/>
                </a:solidFill>
              </a:rPr>
              <a:t>Adaptador REST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59352" y="2583180"/>
            <a:ext cx="320040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97680" y="235915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entrada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35915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salida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27848" y="2583180"/>
            <a:ext cx="320040" cy="0"/>
          </a:xfrm>
          <a:prstGeom prst="line">
            <a:avLst/>
          </a:prstGeom>
          <a:ln w="25400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75320" y="224028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D6006F"/>
                </a:solidFill>
              </a:rPr>
              <a:t>Adaptador 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0112" y="2583180"/>
            <a:ext cx="265176" cy="0"/>
          </a:xfrm>
          <a:prstGeom prst="line">
            <a:avLst/>
          </a:prstGeom>
          <a:ln w="25400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332720" y="2240280"/>
            <a:ext cx="1325880" cy="685800"/>
          </a:xfrm>
          <a:prstGeom prst="roundRect">
            <a:avLst>
              <a:gd name="adj" fmla="val 16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Base de datos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80"/>
            <a:ext cx="1325880" cy="685800"/>
          </a:xfrm>
          <a:prstGeom prst="roundRect">
            <a:avLst>
              <a:gd name="adj" fmla="val 16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Prueba automática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01952" y="3954780"/>
            <a:ext cx="265176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94560" y="361188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7A2FBF"/>
                </a:solidFill>
              </a:rPr>
              <a:t>Adaptador de pruebas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59352" y="3954780"/>
            <a:ext cx="320040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373075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entrada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373075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salida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8" y="3954780"/>
            <a:ext cx="320040" cy="0"/>
          </a:xfrm>
          <a:prstGeom prst="line">
            <a:avLst/>
          </a:prstGeom>
          <a:ln w="25400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275320" y="361188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D6006F"/>
                </a:solidFill>
              </a:rPr>
              <a:t>Adaptador de mensajería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40112" y="3954780"/>
            <a:ext cx="265176" cy="0"/>
          </a:xfrm>
          <a:prstGeom prst="line">
            <a:avLst/>
          </a:prstGeom>
          <a:ln w="25400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332720" y="3611880"/>
            <a:ext cx="1325880" cy="685800"/>
          </a:xfrm>
          <a:prstGeom prst="roundRect">
            <a:avLst>
              <a:gd name="adj" fmla="val 16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Broker de mensajes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74920"/>
            <a:ext cx="11109960" cy="384048"/>
          </a:xfrm>
          <a:prstGeom prst="roundRect">
            <a:avLst>
              <a:gd name="adj" fmla="val 2857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lang="es-ES" sz="1150" b="0" i="0">
                <a:solidFill>
                  <a:srgbClr val="2B2B33"/>
                </a:solidFill>
              </a:rPr>
              <a:t>Los actores y adaptadores de la izquierda </a:t>
            </a:r>
            <a:r>
              <a:rPr lang="es-ES" sz="1150" b="1" i="0">
                <a:solidFill>
                  <a:srgbClr val="2B2B33"/>
                </a:solidFill>
              </a:rPr>
              <a:t>conducen</a:t>
            </a:r>
            <a:r>
              <a:rPr lang="es-ES" sz="1150" b="0" i="0">
                <a:solidFill>
                  <a:srgbClr val="2B2B33"/>
                </a:solidFill>
              </a:rPr>
              <a:t> la aplicación; los de la derecha </a:t>
            </a:r>
            <a:r>
              <a:rPr lang="es-ES" sz="1150" b="1" i="0">
                <a:solidFill>
                  <a:srgbClr val="2B2B33"/>
                </a:solidFill>
              </a:rPr>
              <a:t>son conducidos</a:t>
            </a:r>
            <a:r>
              <a:rPr lang="es-ES" sz="1150" b="0" i="0">
                <a:solidFill>
                  <a:srgbClr val="2B2B33"/>
                </a:solidFill>
              </a:rPr>
              <a:t> por ella. El dominio no conoce a ninguno.</a:t>
            </a:r>
          </a:p>
        </p:txBody>
      </p:sp>
      <p:sp>
        <p:nvSpPr>
          <p:cNvPr id="29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elaboración propia adaptada de Cockburn (2005, fig. 1 y 2), AWS (s. f., diagrama de alto nivel) y Chakray (2025).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ELEMENTOS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Núcleo, puertos y adaptadores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713232" y="1517904"/>
            <a:ext cx="457200" cy="397764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Dominio o núcleo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Procesos, reglas y propiedades del negocio, </a:t>
            </a:r>
            <a:r>
              <a:rPr lang="es-ES" sz="1150" b="1" i="0">
                <a:solidFill>
                  <a:srgbClr val="2B2B33"/>
                </a:solidFill>
              </a:rPr>
              <a:t>sin tecnología externa</a:t>
            </a:r>
            <a:r>
              <a:rPr lang="es-ES" sz="1150" b="0" i="0">
                <a:solidFill>
                  <a:srgbClr val="2B2B33"/>
                </a:solidFill>
              </a:rPr>
              <a:t>. Mantiene consistente el estado de los objetos.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(2025); Aranda (2021)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4462271" y="1517904"/>
            <a:ext cx="457200" cy="397764"/>
          </a:xfrm>
          <a:prstGeom prst="hexagon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2B2B33"/>
                </a:solidFill>
              </a:rPr>
              <a:t>Puerto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“A port identifies a purposeful conversation.” Un puerto identifica una conversación con propósito. AWS lo compara con un </a:t>
            </a:r>
            <a:r>
              <a:rPr lang="es-ES" sz="1150" b="1" i="0">
                <a:solidFill>
                  <a:srgbClr val="2B2B33"/>
                </a:solidFill>
              </a:rPr>
              <a:t>puerto USB</a:t>
            </a:r>
            <a:r>
              <a:rPr lang="es-ES" sz="1150" b="0" i="0">
                <a:solidFill>
                  <a:srgbClr val="2B2B33"/>
                </a:solidFill>
              </a:rPr>
              <a:t>: cualquier dispositivo con el adaptador adecuado puede conectarse.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Cockburn (2005); AWS (s. f.)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8211311" y="1517904"/>
            <a:ext cx="457200" cy="397764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Puerto de entrada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Las operaciones que la aplicación </a:t>
            </a:r>
            <a:r>
              <a:rPr lang="es-ES" sz="1150" b="1" i="0">
                <a:solidFill>
                  <a:srgbClr val="2B2B33"/>
                </a:solidFill>
              </a:rPr>
              <a:t>ofrece</a:t>
            </a:r>
            <a:r>
              <a:rPr lang="es-ES" sz="1150" b="0" i="0">
                <a:solidFill>
                  <a:srgbClr val="2B2B33"/>
                </a:solidFill>
              </a:rPr>
              <a:t>: lo que puede hacer cuando la invocan.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713232" y="35753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Puerto de salida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Lo que la aplicación </a:t>
            </a:r>
            <a:r>
              <a:rPr lang="es-ES" sz="1150" b="1" i="0">
                <a:solidFill>
                  <a:srgbClr val="2B2B33"/>
                </a:solidFill>
              </a:rPr>
              <a:t>necesita</a:t>
            </a:r>
            <a:r>
              <a:rPr lang="es-ES" sz="1150" b="0" i="0">
                <a:solidFill>
                  <a:srgbClr val="2B2B33"/>
                </a:solidFill>
              </a:rPr>
              <a:t> del exterior, como persistencia o envío de correos.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5" name="Hexagon 24"/>
          <p:cNvSpPr/>
          <p:nvPr/>
        </p:nvSpPr>
        <p:spPr>
          <a:xfrm>
            <a:off x="4462271" y="3575304"/>
            <a:ext cx="457200" cy="397764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Adaptador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Convierte la definición de la API en las señales que necesita cada dispositivo. Es el </a:t>
            </a:r>
            <a:r>
              <a:rPr lang="es-ES" sz="1150" b="1" i="0">
                <a:solidFill>
                  <a:srgbClr val="2B2B33"/>
                </a:solidFill>
              </a:rPr>
              <a:t>puente</a:t>
            </a:r>
            <a:r>
              <a:rPr lang="es-ES" sz="1150" b="0" i="0">
                <a:solidFill>
                  <a:srgbClr val="2B2B33"/>
                </a:solidFill>
              </a:rPr>
              <a:t> que implementa el puerto y traduce en ambos sentidos.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Cockburn (2005); Aranda (2021)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30" name="Hexagon 29"/>
          <p:cNvSpPr/>
          <p:nvPr/>
        </p:nvSpPr>
        <p:spPr>
          <a:xfrm>
            <a:off x="8211311" y="35753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Varios por puerto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9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Sobre un mismo puerto pueden coexistir, por ejemplo, un adaptador </a:t>
            </a:r>
            <a:r>
              <a:rPr lang="es-ES" sz="1150" b="1" i="0">
                <a:solidFill>
                  <a:srgbClr val="2B2B33"/>
                </a:solidFill>
              </a:rPr>
              <a:t>REST</a:t>
            </a:r>
            <a:r>
              <a:rPr lang="es-ES" sz="1150" b="0" i="0">
                <a:solidFill>
                  <a:srgbClr val="2B2B33"/>
                </a:solidFill>
              </a:rPr>
              <a:t> y otro </a:t>
            </a:r>
            <a:r>
              <a:rPr lang="es-ES" sz="1150" b="1" i="0">
                <a:solidFill>
                  <a:srgbClr val="2B2B33"/>
                </a:solidFill>
              </a:rPr>
              <a:t>GraphQL</a:t>
            </a:r>
            <a:r>
              <a:rPr lang="es-ES" sz="1150" b="0" i="0">
                <a:solidFill>
                  <a:srgbClr val="2B2B33"/>
                </a:solidFill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AWS (s. f.)</a:t>
            </a:r>
          </a:p>
        </p:txBody>
      </p:sp>
      <p:sp>
        <p:nvSpPr>
          <p:cNvPr id="34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Cockburn (2005); AWS (s. f.); Aranda (2021), CloudAPPi; Chakray (2025). Traducciones propias.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ACTORES Y ADAPTADORES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El lado que conduce y el lado conducido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Primario · conduce (driving)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1188720"/>
          </a:xfrm>
          <a:prstGeom prst="roundRect">
            <a:avLst>
              <a:gd name="adj" fmla="val 923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es-ES" sz="1200" b="0" i="1">
                <a:solidFill>
                  <a:srgbClr val="2B2B33"/>
                </a:solidFill>
              </a:rPr>
              <a:t>“an actor that drives the application”</a:t>
            </a:r>
          </a:p>
          <a:p>
            <a:pPr algn="l">
              <a:spcAft>
                <a:spcPts val="400"/>
              </a:spcAft>
            </a:pPr>
            <a:r>
              <a:rPr lang="es-ES" sz="1200" b="0" i="1">
                <a:solidFill>
                  <a:srgbClr val="2B2B33"/>
                </a:solidFill>
              </a:rPr>
              <a:t>un actor que conduce la aplicación (trad. propia)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7A2FBF"/>
                </a:solidFill>
              </a:rPr>
              <a:t>Dónde se dibuja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246120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a la izquierda o arriba del hexágono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59352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59352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7A2FBF"/>
                </a:solidFill>
              </a:rPr>
              <a:t>Adaptadores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959352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controladores REST, CLI, interfaces gráficas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72583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672583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7A2FBF"/>
                </a:solidFill>
              </a:rPr>
              <a:t>Sustituto en pruebas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672583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fixtures de pruebas (FIT)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7160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Secundario · conducido (driven)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920240"/>
            <a:ext cx="5486400" cy="1188720"/>
          </a:xfrm>
          <a:prstGeom prst="roundRect">
            <a:avLst>
              <a:gd name="adj" fmla="val 9230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196596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es-ES" sz="1200" b="0" i="1">
                <a:solidFill>
                  <a:srgbClr val="2B2B33"/>
                </a:solidFill>
              </a:rPr>
              <a:t>“[an actor] that the application drives, either to get answers from or to merely notify”</a:t>
            </a:r>
          </a:p>
          <a:p>
            <a:pPr algn="l">
              <a:spcAft>
                <a:spcPts val="400"/>
              </a:spcAft>
            </a:pPr>
            <a:r>
              <a:rPr lang="es-ES" sz="1200" b="0" i="1">
                <a:solidFill>
                  <a:srgbClr val="2B2B33"/>
                </a:solidFill>
              </a:rPr>
              <a:t>un actor al que la aplicación conduce, para obtener respuestas o solo notificarle (trad. propia)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246120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3246120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D6006F"/>
                </a:solidFill>
              </a:rPr>
              <a:t>Dónde se dibuja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246120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a la derecha o abajo del hexágono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959352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3959352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D6006F"/>
                </a:solidFill>
              </a:rPr>
              <a:t>Adaptadores típicos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959352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base de datos, servicio de mensajería, correo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672583"/>
            <a:ext cx="5486400" cy="603504"/>
          </a:xfrm>
          <a:prstGeom prst="roundRect">
            <a:avLst>
              <a:gd name="adj" fmla="val 1515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4672583"/>
            <a:ext cx="1737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50" b="1" i="0">
                <a:solidFill>
                  <a:srgbClr val="D6006F"/>
                </a:solidFill>
              </a:rPr>
              <a:t>Sustituto en pruebas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672583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objetos simulados (mocks)</a:t>
            </a:r>
          </a:p>
        </p:txBody>
      </p:sp>
      <p:sp>
        <p:nvSpPr>
          <p:cNvPr id="28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Cockburn (2005) para definiciones, ubicación y sustitutos de prueba; Chakray (2025) para los adaptadores típicos.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INTERCAMBIABILIDAD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Un puerto, muchos adaptadores</a:t>
            </a:r>
          </a:p>
        </p:txBody>
      </p:sp>
      <p:sp>
        <p:nvSpPr>
          <p:cNvPr id="4" name="Hexagon 3"/>
          <p:cNvSpPr/>
          <p:nvPr/>
        </p:nvSpPr>
        <p:spPr>
          <a:xfrm>
            <a:off x="4160520" y="1691640"/>
            <a:ext cx="3840480" cy="3291840"/>
          </a:xfrm>
          <a:prstGeom prst="hexagon">
            <a:avLst/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500" b="1" i="0">
                <a:solidFill>
                  <a:srgbClr val="7A2FBF"/>
                </a:solidFill>
              </a:rPr>
              <a:t>Aplicación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950" b="1" i="0">
                <a:solidFill>
                  <a:srgbClr val="FFFFFF"/>
                </a:solidFill>
              </a:rPr>
              <a:t>puerto de datos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Pruebas de regresión automatizadas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19272" y="1819656"/>
            <a:ext cx="996696" cy="1517904"/>
          </a:xfrm>
          <a:prstGeom prst="line">
            <a:avLst/>
          </a:prstGeom>
          <a:ln w="22225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2377440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Persona con interfaz gráfica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19272" y="2734056"/>
            <a:ext cx="996696" cy="603504"/>
          </a:xfrm>
          <a:prstGeom prst="line">
            <a:avLst/>
          </a:prstGeom>
          <a:ln w="22225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3291840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Navegador por HTTP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319272" y="3337560"/>
            <a:ext cx="996696" cy="310896"/>
          </a:xfrm>
          <a:prstGeom prst="line">
            <a:avLst/>
          </a:prstGeom>
          <a:ln w="22225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4206240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7A2FBF"/>
                </a:solidFill>
              </a:rPr>
              <a:t>Otra aplicación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319272" y="3337560"/>
            <a:ext cx="996696" cy="1225295"/>
          </a:xfrm>
          <a:prstGeom prst="line">
            <a:avLst/>
          </a:prstGeom>
          <a:ln w="22225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915400" y="2331720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D6006F"/>
                </a:solidFill>
              </a:rPr>
              <a:t>Base de datos simulada en memoria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845552" y="2688336"/>
            <a:ext cx="1042416" cy="649224"/>
          </a:xfrm>
          <a:prstGeom prst="line">
            <a:avLst/>
          </a:prstGeom>
          <a:ln w="22225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15400" y="3520439"/>
            <a:ext cx="2743200" cy="713232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lang="es-ES" sz="1150" b="1" i="0">
                <a:solidFill>
                  <a:srgbClr val="D6006F"/>
                </a:solidFill>
              </a:rPr>
              <a:t>Base de datos real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45552" y="3337560"/>
            <a:ext cx="1042416" cy="539495"/>
          </a:xfrm>
          <a:prstGeom prst="line">
            <a:avLst/>
          </a:prstGeom>
          <a:ln w="22225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138928"/>
            <a:ext cx="11109960" cy="347472"/>
          </a:xfrm>
          <a:prstGeom prst="roundRect">
            <a:avLst>
              <a:gd name="adj" fmla="val 31578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lang="es-ES" sz="1150" b="0" i="0">
                <a:solidFill>
                  <a:srgbClr val="2B2B33"/>
                </a:solidFill>
              </a:rPr>
              <a:t>Cambiar de adaptador no toca la aplicación. AWS da el mismo ejemplo con REST y GraphQL sobre un único puerto.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elaboración propia adaptada de Cockburn (2005, fig. 2); AWS (s. f.).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INVERSIÓN DE DEPENDENCIAS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Las dependencias apuntan hacia adentro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250" b="1" i="0">
                <a:solidFill>
                  <a:srgbClr val="2B2B33"/>
                </a:solidFill>
              </a:rPr>
              <a:t>Detalles</a:t>
            </a:r>
          </a:p>
          <a:p>
            <a:pPr algn="ctr"/>
            <a:r>
              <a:rPr lang="es-ES" sz="1250" b="0" i="0">
                <a:solidFill>
                  <a:srgbClr val="2B2B33"/>
                </a:solidFill>
              </a:rPr>
              <a:t>frameworks, BD, APIs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90672" y="1874519"/>
            <a:ext cx="265176" cy="0"/>
          </a:xfrm>
          <a:prstGeom prst="line">
            <a:avLst/>
          </a:prstGeom>
          <a:ln w="3175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83280" y="1417320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D9C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250" b="1" i="0">
                <a:solidFill>
                  <a:srgbClr val="2B2B33"/>
                </a:solidFill>
              </a:rPr>
              <a:t>Puertos</a:t>
            </a:r>
          </a:p>
          <a:p>
            <a:pPr algn="ctr"/>
            <a:r>
              <a:rPr lang="es-ES" sz="1250" b="0" i="0">
                <a:solidFill>
                  <a:srgbClr val="2B2B33"/>
                </a:solidFill>
              </a:rPr>
              <a:t>contratos estables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25312" y="1874519"/>
            <a:ext cx="265176" cy="0"/>
          </a:xfrm>
          <a:prstGeom prst="line">
            <a:avLst/>
          </a:prstGeom>
          <a:ln w="3175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17920" y="1417320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9B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250" b="1" i="0">
                <a:solidFill>
                  <a:srgbClr val="FFFFFF"/>
                </a:solidFill>
              </a:rPr>
              <a:t>Casos de uso</a:t>
            </a:r>
          </a:p>
          <a:p>
            <a:pPr algn="ctr"/>
            <a:r>
              <a:rPr lang="es-ES" sz="1250" b="0" i="0">
                <a:solidFill>
                  <a:srgbClr val="FFFFFF"/>
                </a:solidFill>
              </a:rPr>
              <a:t>orquestan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59952" y="1874519"/>
            <a:ext cx="265176" cy="0"/>
          </a:xfrm>
          <a:prstGeom prst="line">
            <a:avLst/>
          </a:prstGeom>
          <a:ln w="3175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52560" y="1417320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250" b="1" i="0">
                <a:solidFill>
                  <a:srgbClr val="FFFFFF"/>
                </a:solidFill>
              </a:rPr>
              <a:t>Dominio</a:t>
            </a:r>
          </a:p>
          <a:p>
            <a:pPr algn="ctr"/>
            <a:r>
              <a:rPr lang="es-ES" sz="1250" b="0" i="0">
                <a:solidFill>
                  <a:srgbClr val="FFFFFF"/>
                </a:solidFill>
              </a:rPr>
              <a:t>reglas de negocio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11109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1">
                <a:solidFill>
                  <a:srgbClr val="5F6368"/>
                </a:solidFill>
              </a:rPr>
              <a:t>Cada flecha se lee «depende de». Nada adentro conoce lo de afuera.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5394960" cy="2560320"/>
          </a:xfrm>
          <a:prstGeom prst="roundRect">
            <a:avLst>
              <a:gd name="adj" fmla="val 5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926080"/>
            <a:ext cx="49377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lang="es-ES" sz="1300" b="1" i="0">
                <a:solidFill>
                  <a:srgbClr val="FFFFFF"/>
                </a:solidFill>
              </a:rPr>
              <a:t>Principio de inversión de dependencias</a:t>
            </a:r>
          </a:p>
          <a:p>
            <a:pPr algn="l">
              <a:spcAft>
                <a:spcPts val="800"/>
              </a:spcAft>
            </a:pPr>
            <a:r>
              <a:rPr lang="es-ES" sz="1300" b="0" i="0">
                <a:solidFill>
                  <a:srgbClr val="FFFFFF"/>
                </a:solidFill>
              </a:rPr>
              <a:t>«Los módulos de alto nivel no deberían depender de los módulos de bajo nivel.»</a:t>
            </a:r>
          </a:p>
          <a:p>
            <a:pPr algn="l">
              <a:spcAft>
                <a:spcPts val="800"/>
              </a:spcAft>
            </a:pPr>
            <a:r>
              <a:rPr lang="es-ES" sz="1300" b="0" i="0">
                <a:solidFill>
                  <a:srgbClr val="FFFFFF"/>
                </a:solidFill>
              </a:rPr>
              <a:t>Robert C. Martin, la D de SOLID. Ambos deben depender de abstracciones: los puertos.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834640"/>
            <a:ext cx="5394960" cy="2560320"/>
          </a:xfrm>
          <a:prstGeom prst="roundRect">
            <a:avLst>
              <a:gd name="adj" fmla="val 5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2962656"/>
            <a:ext cx="507492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7A2FBF"/>
                </a:solidFill>
              </a:rPr>
              <a:t>Dependencia configurable, en el ejemplo de Cockburn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438144"/>
            <a:ext cx="502920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/>
              <a:buChar char="•"/>
            </a:pPr>
            <a:r>
              <a:rPr lang="es-ES" sz="1200" b="0" i="0">
                <a:solidFill>
                  <a:srgbClr val="2B2B33"/>
                </a:solidFill>
              </a:rPr>
              <a:t>Una fábrica (</a:t>
            </a:r>
            <a:r>
              <a:rPr lang="es-ES" sz="1200" b="1" i="0">
                <a:solidFill>
                  <a:srgbClr val="7A2FBF"/>
                </a:solidFill>
              </a:rPr>
              <a:t>RepositoryFactory</a:t>
            </a:r>
            <a:r>
              <a:rPr lang="es-ES" sz="1200" b="0" i="0">
                <a:solidFill>
                  <a:srgbClr val="2B2B33"/>
                </a:solidFill>
              </a:rPr>
              <a:t>) entrega un repositorio </a:t>
            </a:r>
            <a:r>
              <a:rPr lang="es-ES" sz="1200" b="1" i="0">
                <a:solidFill>
                  <a:srgbClr val="2B2B33"/>
                </a:solidFill>
              </a:rPr>
              <a:t>simulado</a:t>
            </a:r>
            <a:r>
              <a:rPr lang="es-ES" sz="1200" b="0" i="0">
                <a:solidFill>
                  <a:srgbClr val="2B2B33"/>
                </a:solidFill>
              </a:rPr>
              <a:t> o uno </a:t>
            </a:r>
            <a:r>
              <a:rPr lang="es-ES" sz="1200" b="1" i="0">
                <a:solidFill>
                  <a:srgbClr val="2B2B33"/>
                </a:solidFill>
              </a:rPr>
              <a:t>real</a:t>
            </a:r>
          </a:p>
          <a:p>
            <a:pPr marL="171450" indent="-171450" algn="l">
              <a:spcAft>
                <a:spcPts val="300"/>
              </a:spcAft>
              <a:buFont typeface="Arial"/>
              <a:buChar char="•"/>
            </a:pPr>
            <a:r>
              <a:rPr lang="es-ES" sz="1200" b="0" i="0">
                <a:solidFill>
                  <a:srgbClr val="2B2B33"/>
                </a:solidFill>
              </a:rPr>
              <a:t>La aplicación lo recibe por su constructor y no sabe cuál es</a:t>
            </a:r>
          </a:p>
          <a:p>
            <a:pPr marL="171450" indent="-171450" algn="l">
              <a:spcAft>
                <a:spcPts val="300"/>
              </a:spcAft>
              <a:buFont typeface="Arial"/>
              <a:buChar char="•"/>
            </a:pPr>
            <a:r>
              <a:rPr lang="es-ES" sz="1200" b="0" i="0">
                <a:solidFill>
                  <a:srgbClr val="2B2B33"/>
                </a:solidFill>
              </a:rPr>
              <a:t>La conexión puede programarse a mano o configurarse con un framework de inyección de dependencias, como Spring</a:t>
            </a:r>
          </a:p>
        </p:txBody>
      </p:sp>
      <p:sp>
        <p:nvSpPr>
          <p:cNvPr id="17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Chakray (2025) para la cadena de dependencias y la cita de Martin; Cockburn (2005) para la dependencia configurable.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VENTAJAS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Lo que se gana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685800" y="15087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19" y="14813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Independiente del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933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el núcleo no lo conoce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3716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3520440" y="15087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4813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Independiente de la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19933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web, móvil o API usan el mismo caso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5603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6355080" y="15087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813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Independiente de la BD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9933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cambiar la persistencia es otro adaptador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5603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(2021); Chakray (2025)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3716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9189720" y="15087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4813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Independiente de agentes externos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19933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terceros detrás de puertos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25603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9718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5" name="Hexagon 24"/>
          <p:cNvSpPr/>
          <p:nvPr/>
        </p:nvSpPr>
        <p:spPr>
          <a:xfrm>
            <a:off x="685800" y="31089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30815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Testable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5935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el dominio se prueba con mocks, sin BD ni servidor (DIP)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1605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(2021); AWS (s. f.)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29718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30" name="Hexagon 29"/>
          <p:cNvSpPr/>
          <p:nvPr/>
        </p:nvSpPr>
        <p:spPr>
          <a:xfrm>
            <a:off x="3520440" y="31089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30815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Reutilizable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7872" y="35935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responsabilidades separadas (SRP)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41605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9718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35" name="Hexagon 34"/>
          <p:cNvSpPr/>
          <p:nvPr/>
        </p:nvSpPr>
        <p:spPr>
          <a:xfrm>
            <a:off x="6355080" y="31089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0815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Tolerante al cambio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5935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se extiende sin modificar (OCP)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41605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Aranda (2021)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297180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40" name="Hexagon 39"/>
          <p:cNvSpPr/>
          <p:nvPr/>
        </p:nvSpPr>
        <p:spPr>
          <a:xfrm>
            <a:off x="9189720" y="3108960"/>
            <a:ext cx="411480" cy="35798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081528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Longevo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359359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0" i="0">
                <a:solidFill>
                  <a:srgbClr val="2B2B33"/>
                </a:solidFill>
              </a:rPr>
              <a:t>el dominio sigue estable mientras la tecnología cambia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16052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0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15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36576" rIns="182880" bIns="36576" rtlCol="0" anchor="ctr"/>
          <a:lstStyle/>
          <a:p>
            <a:pPr algn="ctr"/>
            <a:r>
              <a:rPr lang="es-ES" sz="1250" b="0" i="0">
                <a:solidFill>
                  <a:srgbClr val="FFFFFF"/>
                </a:solidFill>
              </a:rPr>
              <a:t>La idea de fondo: separar </a:t>
            </a:r>
            <a:r>
              <a:rPr lang="es-ES" sz="1250" b="1" i="0">
                <a:solidFill>
                  <a:srgbClr val="FFFFFF"/>
                </a:solidFill>
              </a:rPr>
              <a:t>lo que cambia rápido</a:t>
            </a:r>
            <a:r>
              <a:rPr lang="es-ES" sz="1250" b="0" i="0">
                <a:solidFill>
                  <a:srgbClr val="FFFFFF"/>
                </a:solidFill>
              </a:rPr>
              <a:t> (las tecnologías) de </a:t>
            </a:r>
            <a:r>
              <a:rPr lang="es-ES" sz="1250" b="1" i="0">
                <a:solidFill>
                  <a:srgbClr val="FFFFFF"/>
                </a:solidFill>
              </a:rPr>
              <a:t>lo que cambia lento</a:t>
            </a:r>
            <a:r>
              <a:rPr lang="es-ES" sz="1250" b="0" i="0">
                <a:solidFill>
                  <a:srgbClr val="FFFFFF"/>
                </a:solidFill>
              </a:rPr>
              <a:t> (las reglas de negocio). Encaja de forma natural con DDD: cada componente puede representar un subdominio.</a:t>
            </a:r>
          </a:p>
        </p:txBody>
      </p:sp>
      <p:sp>
        <p:nvSpPr>
          <p:cNvPr id="45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Aranda (2021), CloudAPPi; Chakray (2025); AWS (s. f.).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D6006F"/>
                </a:solidFill>
              </a:rPr>
              <a:t>ARQUITECTURA HEXAGONAL · DESVENTAJAS Y DESAFÍOS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Lo que cuesta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713232" y="15179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Complejidad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Mal gestionada, complica la solución; sin entender los principios reaparecen los problemas de origen.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AWS (s. f.); Aranda (2021)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4462271" y="15179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Más clases que mantener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Más interfaces e implementaciones. Los adaptadores extra solo se justifican si hay varias fuentes o el almacén cambiará.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AWS (s. f.); Aranda (2021)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3716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8211311" y="15179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14996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Latencia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9751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Cada capa adicional puede añadir latencia.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0175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AWS (s. f.)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713232" y="35753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Curva de aprendizaje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Exige un cambio de mentalidad en equipos acostumbrados a las capas.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5" name="Hexagon 24"/>
          <p:cNvSpPr/>
          <p:nvPr/>
        </p:nvSpPr>
        <p:spPr>
          <a:xfrm>
            <a:off x="4462271" y="35753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Sobrecarga en lo pequeño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En proyectos pequeños, la estructura puede pesar más que el beneficio.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429000"/>
            <a:ext cx="3566160" cy="1920240"/>
          </a:xfrm>
          <a:prstGeom prst="roundRect">
            <a:avLst>
              <a:gd name="adj" fmla="val 6666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30" name="Hexagon 29"/>
          <p:cNvSpPr/>
          <p:nvPr/>
        </p:nvSpPr>
        <p:spPr>
          <a:xfrm>
            <a:off x="8211311" y="3575304"/>
            <a:ext cx="457200" cy="397764"/>
          </a:xfrm>
          <a:prstGeom prst="hexagon">
            <a:avLst/>
          </a:prstGeom>
          <a:solidFill>
            <a:srgbClr val="D6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557016"/>
            <a:ext cx="267919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350" b="1" i="0">
                <a:solidFill>
                  <a:srgbClr val="D6006F"/>
                </a:solidFill>
              </a:rPr>
              <a:t>Abstracción de más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9" y="4032504"/>
            <a:ext cx="3200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s-ES" sz="1150" b="0" i="0">
                <a:solidFill>
                  <a:srgbClr val="2B2B33"/>
                </a:solidFill>
              </a:rPr>
              <a:t>«Destructive Decoupling» y «The Hidden Maze»: abstracciones innecesarias y cadenas de llamadas difíciles de seguir.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507492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34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AWS (s. f.); Aranda (2021), CloudAPPi; Chakray (2025).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APLICABILIDAD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Cuándo conviene aplicarla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1" i="0">
                <a:solidFill>
                  <a:srgbClr val="1E8E5A"/>
                </a:solidFill>
              </a:rPr>
              <a:t>CONVIENE CUANDO…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6400800" cy="777240"/>
          </a:xfrm>
          <a:prstGeom prst="roundRect">
            <a:avLst>
              <a:gd name="adj" fmla="val 14117"/>
            </a:avLst>
          </a:prstGeom>
          <a:solidFill>
            <a:srgbClr val="E3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6" name="Hexagon 5"/>
          <p:cNvSpPr/>
          <p:nvPr/>
        </p:nvSpPr>
        <p:spPr>
          <a:xfrm>
            <a:off x="685800" y="1856232"/>
            <a:ext cx="457200" cy="397764"/>
          </a:xfrm>
          <a:prstGeom prst="hexag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5532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0" i="0">
                <a:solidFill>
                  <a:srgbClr val="2B2B33"/>
                </a:solidFill>
              </a:rPr>
              <a:t>Se quiere desacoplar la aplicación para que sus componentes se puedan </a:t>
            </a:r>
            <a:r>
              <a:rPr lang="es-ES" sz="1250" b="1" i="0">
                <a:solidFill>
                  <a:srgbClr val="2B2B33"/>
                </a:solidFill>
              </a:rPr>
              <a:t>probar por completo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87752"/>
            <a:ext cx="6400800" cy="777240"/>
          </a:xfrm>
          <a:prstGeom prst="roundRect">
            <a:avLst>
              <a:gd name="adj" fmla="val 14117"/>
            </a:avLst>
          </a:prstGeom>
          <a:solidFill>
            <a:srgbClr val="E3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9" name="Hexagon 8"/>
          <p:cNvSpPr/>
          <p:nvPr/>
        </p:nvSpPr>
        <p:spPr>
          <a:xfrm>
            <a:off x="685800" y="2752344"/>
            <a:ext cx="457200" cy="397764"/>
          </a:xfrm>
          <a:prstGeom prst="hexag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87752"/>
            <a:ext cx="5532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1" i="0">
                <a:solidFill>
                  <a:srgbClr val="2B2B33"/>
                </a:solidFill>
              </a:rPr>
              <a:t>Varios tipos de clientes</a:t>
            </a:r>
            <a:r>
              <a:rPr lang="es-ES" sz="1250" b="0" i="0">
                <a:solidFill>
                  <a:srgbClr val="2B2B33"/>
                </a:solidFill>
              </a:rPr>
              <a:t> usan la misma lógica de dominio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83864"/>
            <a:ext cx="6400800" cy="777240"/>
          </a:xfrm>
          <a:prstGeom prst="roundRect">
            <a:avLst>
              <a:gd name="adj" fmla="val 14117"/>
            </a:avLst>
          </a:prstGeom>
          <a:solidFill>
            <a:srgbClr val="E3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2" name="Hexagon 11"/>
          <p:cNvSpPr/>
          <p:nvPr/>
        </p:nvSpPr>
        <p:spPr>
          <a:xfrm>
            <a:off x="685800" y="3648456"/>
            <a:ext cx="457200" cy="397764"/>
          </a:xfrm>
          <a:prstGeom prst="hexag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83864"/>
            <a:ext cx="5532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0" i="0">
                <a:solidFill>
                  <a:srgbClr val="2B2B33"/>
                </a:solidFill>
              </a:rPr>
              <a:t>La </a:t>
            </a:r>
            <a:r>
              <a:rPr lang="es-ES" sz="1250" b="1" i="0">
                <a:solidFill>
                  <a:srgbClr val="2B2B33"/>
                </a:solidFill>
              </a:rPr>
              <a:t>interfaz o la base de datos</a:t>
            </a:r>
            <a:r>
              <a:rPr lang="es-ES" sz="1250" b="0" i="0">
                <a:solidFill>
                  <a:srgbClr val="2B2B33"/>
                </a:solidFill>
              </a:rPr>
              <a:t> se actualizan periódicamente y eso no debe tocar la lógica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79976"/>
            <a:ext cx="6400800" cy="777240"/>
          </a:xfrm>
          <a:prstGeom prst="roundRect">
            <a:avLst>
              <a:gd name="adj" fmla="val 14117"/>
            </a:avLst>
          </a:prstGeom>
          <a:solidFill>
            <a:srgbClr val="E3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685800" y="4544568"/>
            <a:ext cx="457200" cy="397764"/>
          </a:xfrm>
          <a:prstGeom prst="hexag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379976"/>
            <a:ext cx="5532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0" i="0">
                <a:solidFill>
                  <a:srgbClr val="2B2B33"/>
                </a:solidFill>
              </a:rPr>
              <a:t>Hay </a:t>
            </a:r>
            <a:r>
              <a:rPr lang="es-ES" sz="1250" b="1" i="0">
                <a:solidFill>
                  <a:srgbClr val="2B2B33"/>
                </a:solidFill>
              </a:rPr>
              <a:t>varios proveedores de entrada</a:t>
            </a:r>
            <a:r>
              <a:rPr lang="es-ES" sz="1250" b="0" i="0">
                <a:solidFill>
                  <a:srgbClr val="2B2B33"/>
                </a:solidFill>
              </a:rPr>
              <a:t> y varios consumidores de salida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32588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00" b="1" i="0">
                <a:solidFill>
                  <a:srgbClr val="D6006F"/>
                </a:solidFill>
              </a:rPr>
              <a:t>LO PIENSA DOS VECES CUANDO…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1691640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60920" y="1764792"/>
            <a:ext cx="41148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lang="es-ES" sz="1150" b="1" i="0">
                <a:solidFill>
                  <a:srgbClr val="2B2B33"/>
                </a:solidFill>
              </a:rPr>
              <a:t>Hay una sola entrada y una sola salida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y el almacén no va a cambiar: los adaptadores extra no se justifican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AWS (s. f.)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2889504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20" y="2962656"/>
            <a:ext cx="41148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lang="es-ES" sz="1150" b="1" i="0">
                <a:solidFill>
                  <a:srgbClr val="2B2B33"/>
                </a:solidFill>
              </a:rPr>
              <a:t>El proyecto es pequeño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la estructura puede resultar excesiva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Chakray (2025)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4087368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F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60920" y="4160520"/>
            <a:ext cx="41148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lang="es-ES" sz="1150" b="1" i="0">
                <a:solidFill>
                  <a:srgbClr val="2B2B33"/>
                </a:solidFill>
              </a:rPr>
              <a:t>El equipo no domina SOLID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sin los principios, reaparecen los problemas</a:t>
            </a:r>
          </a:p>
          <a:p>
            <a:pPr algn="l">
              <a:spcAft>
                <a:spcPts val="100"/>
              </a:spcAft>
            </a:pPr>
            <a:r>
              <a:rPr lang="es-ES" sz="1150" b="0" i="0">
                <a:solidFill>
                  <a:srgbClr val="2B2B33"/>
                </a:solidFill>
              </a:rPr>
              <a:t>Aranda (2021)</a:t>
            </a:r>
          </a:p>
        </p:txBody>
      </p:sp>
      <p:sp>
        <p:nvSpPr>
          <p:cNvPr id="24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AWS (s. f.), sección «Aplicabilidad»; Chakray (2025); Aranda (2021), CloudAPPi.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ED180F8-74DE-479F-BFF0-A7F5EF8FA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47406"/>
              </p:ext>
            </p:extLst>
          </p:nvPr>
        </p:nvGraphicFramePr>
        <p:xfrm>
          <a:off x="804672" y="1463040"/>
          <a:ext cx="9909312" cy="393192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2368460">
                  <a:extLst>
                    <a:ext uri="{9D8B030D-6E8A-4147-A177-3AD203B41FA5}">
                      <a16:colId xmlns:a16="http://schemas.microsoft.com/office/drawing/2014/main" val="463218503"/>
                    </a:ext>
                  </a:extLst>
                </a:gridCol>
                <a:gridCol w="3338568">
                  <a:extLst>
                    <a:ext uri="{9D8B030D-6E8A-4147-A177-3AD203B41FA5}">
                      <a16:colId xmlns:a16="http://schemas.microsoft.com/office/drawing/2014/main" val="3517375092"/>
                    </a:ext>
                  </a:extLst>
                </a:gridCol>
                <a:gridCol w="4202284">
                  <a:extLst>
                    <a:ext uri="{9D8B030D-6E8A-4147-A177-3AD203B41FA5}">
                      <a16:colId xmlns:a16="http://schemas.microsoft.com/office/drawing/2014/main" val="4280787410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endParaRPr lang="es-419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/>
                        <a:t>Hexagonal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dirty="0" err="1"/>
                        <a:t>Clean</a:t>
                      </a:r>
                      <a:endParaRPr lang="es-419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6168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419" sz="1400" b="1"/>
                        <a:t>Idea central</a:t>
                      </a:r>
                      <a:endParaRPr lang="es-419" sz="140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Adentro y afuera, unidos por puertos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400" dirty="0"/>
                        <a:t>Capas concéntricas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9654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s-419" sz="1400" b="1" dirty="0"/>
                        <a:t>Qué NO es negociable</a:t>
                      </a:r>
                      <a:endParaRPr lang="es-419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400"/>
                        <a:t>La frontera: puertos y adaptadores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419" sz="1400"/>
                        <a:t>El interior: entidades, casos de uso, adaptadores de interfaz, frameworks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588114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s-419" sz="1400" b="1"/>
                        <a:t>Organización interna del núcleo</a:t>
                      </a:r>
                      <a:endParaRPr lang="es-419" sz="140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El arquitecto decide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Separa dominio y aplicación en capas distintas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04868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419" sz="1400" b="1"/>
                        <a:t>Entrada y salida</a:t>
                      </a:r>
                      <a:endParaRPr lang="es-419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419" sz="1400" dirty="0"/>
                        <a:t>Distinción explícita y simétrica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400"/>
                        <a:t>Todo lo externo es “la capa de afuera”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14465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s-419" sz="1400" b="1" dirty="0"/>
                        <a:t>Estructura</a:t>
                      </a:r>
                      <a:endParaRPr lang="es-419" sz="14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400"/>
                        <a:t>Por lado: dominio, puertos/entrada, puertos/salida, adaptadores/entrada, adaptadores/salida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Por</a:t>
                      </a:r>
                      <a:r>
                        <a:rPr lang="fr-FR" sz="1400" dirty="0"/>
                        <a:t> capa: Domain, Application, Infrastructure, Api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07952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s-419" sz="1400" b="1" dirty="0"/>
                        <a:t>Terminología</a:t>
                      </a:r>
                      <a:endParaRPr lang="es-419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419" sz="1400"/>
                        <a:t>Puerto, adaptador, conductor, conducido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419" sz="1400" dirty="0"/>
                        <a:t>Entidad, caso de uso, presentador, </a:t>
                      </a:r>
                      <a:r>
                        <a:rPr lang="es-419" sz="1400" dirty="0" err="1"/>
                        <a:t>gateway</a:t>
                      </a:r>
                      <a:endParaRPr lang="es-419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314798"/>
                  </a:ext>
                </a:extLst>
              </a:tr>
            </a:tbl>
          </a:graphicData>
        </a:graphic>
      </p:graphicFrame>
      <p:sp>
        <p:nvSpPr>
          <p:cNvPr id="3" name="Título">
            <a:extLst>
              <a:ext uri="{FF2B5EF4-FFF2-40B4-BE49-F238E27FC236}">
                <a16:creationId xmlns:a16="http://schemas.microsoft.com/office/drawing/2014/main" id="{98D6F799-D23C-49E6-9B40-FEC9BFA9E418}"/>
              </a:ext>
            </a:extLst>
          </p:cNvPr>
          <p:cNvSpPr txBox="1"/>
          <p:nvPr/>
        </p:nvSpPr>
        <p:spPr>
          <a:xfrm>
            <a:off x="804672" y="573393"/>
            <a:ext cx="89154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 dirty="0">
                <a:solidFill>
                  <a:srgbClr val="2B2B33"/>
                </a:solidFill>
              </a:rPr>
              <a:t>Hexagona</a:t>
            </a:r>
            <a:r>
              <a:rPr lang="es-ES" sz="3600" dirty="0">
                <a:solidFill>
                  <a:srgbClr val="2B2B33"/>
                </a:solidFill>
              </a:rPr>
              <a:t>l vs </a:t>
            </a:r>
            <a:r>
              <a:rPr lang="es-ES" sz="3600" dirty="0" err="1">
                <a:solidFill>
                  <a:srgbClr val="2B2B33"/>
                </a:solidFill>
              </a:rPr>
              <a:t>Clean</a:t>
            </a:r>
            <a:endParaRPr lang="es-ES" sz="3600" b="0" i="0" dirty="0">
              <a:solidFill>
                <a:srgbClr val="2B2B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41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COMPARACIÓN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Frente a otras arquitecturas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09960" cy="395020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es-ES" sz="1300" b="1" i="0">
                          <a:solidFill>
                            <a:srgbClr val="2B2B33"/>
                          </a:solidFill>
                        </a:rPr>
                        <a:t>Arquitectura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7D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i="0">
                          <a:solidFill>
                            <a:srgbClr val="2B2B33"/>
                          </a:solidFill>
                        </a:rPr>
                        <a:t>Autor y año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7D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i="0">
                          <a:solidFill>
                            <a:srgbClr val="2B2B33"/>
                          </a:solidFill>
                        </a:rPr>
                        <a:t>Relación con la hexagonal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7D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lang="es-ES" sz="1200" b="1" i="0">
                          <a:solidFill>
                            <a:srgbClr val="2B2B33"/>
                          </a:solidFill>
                        </a:rPr>
                        <a:t>Capas tradicional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0E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La lógica de negocio depende del acceso a datos; la hexagonal invierte esa dependencia y evita la visión unidimensional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lang="es-ES" sz="1200" b="1" i="0">
                          <a:solidFill>
                            <a:srgbClr val="2B2B33"/>
                          </a:solidFill>
                        </a:rPr>
                        <a:t>Clean Architecture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0E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Robert C. Martin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Comparte la independencia del dominio; la organiza en anillos concéntricos: entidades, casos de uso, adaptadores, frameworks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lang="es-ES" sz="1200" b="1" i="0">
                          <a:solidFill>
                            <a:srgbClr val="2B2B33"/>
                          </a:solidFill>
                        </a:rPr>
                        <a:t>Onion Architecture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0E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Jeffrey Palermo, 2008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También pone el dominio al centro; la diferencia es sobre todo de énfasis visual y de terminología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lang="es-ES" sz="1200" b="1" i="0">
                          <a:solidFill>
                            <a:srgbClr val="2B2B33"/>
                          </a:solidFill>
                        </a:rPr>
                        <a:t>Domain-Driven Design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0E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Eric Evans, 2003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Complementaria: DDD modela el dominio y la hexagonal lo aísla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lang="es-ES" sz="1200" b="1" i="0">
                          <a:solidFill>
                            <a:srgbClr val="2B2B33"/>
                          </a:solidFill>
                        </a:rPr>
                        <a:t>Microservicios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0E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i="0">
                          <a:solidFill>
                            <a:srgbClr val="2B2B33"/>
                          </a:solidFill>
                        </a:rPr>
                        <a:t>Arquitectura del sistema; cada servicio puede estructurarse por dentro como un hexágono</a:t>
                      </a:r>
                    </a:p>
                  </a:txBody>
                  <a:tcPr marL="64008" marR="64008" marT="27432" marB="27432" anchor="ctr">
                    <a:lnL w="12700" cap="flat" cmpd="sng" algn="ctr">
                      <a:solidFill>
                        <a:srgbClr val="404040"/>
                      </a:solidFill>
                      <a:prstDash val="solid"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Chakray (2025); Aranda (2021), CloudAPPi, para la comparación con la arquitectura en capas.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Historia, autores y obra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2148840"/>
            <a:ext cx="10744200" cy="0"/>
          </a:xfrm>
          <a:prstGeom prst="line">
            <a:avLst/>
          </a:prstGeom>
          <a:ln w="38100">
            <a:solidFill>
              <a:srgbClr val="7A2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Hexagon 4"/>
          <p:cNvSpPr/>
          <p:nvPr/>
        </p:nvSpPr>
        <p:spPr>
          <a:xfrm>
            <a:off x="1234440" y="1783080"/>
            <a:ext cx="777240" cy="676198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2003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50" b="1" i="0">
                <a:solidFill>
                  <a:srgbClr val="7A2FBF"/>
                </a:solidFill>
              </a:rPr>
              <a:t>Eric Evans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923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2B2B33"/>
                </a:solidFill>
              </a:rPr>
              <a:t>publica Domain-Driven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673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90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10" name="Hexagon 9"/>
          <p:cNvSpPr/>
          <p:nvPr/>
        </p:nvSpPr>
        <p:spPr>
          <a:xfrm>
            <a:off x="3474720" y="1783080"/>
            <a:ext cx="777240" cy="676198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856231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2005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97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50" b="1" i="0">
                <a:solidFill>
                  <a:srgbClr val="7A2FBF"/>
                </a:solidFill>
              </a:rPr>
              <a:t>Alistair Cockburn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99923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2B2B33"/>
                </a:solidFill>
              </a:rPr>
              <a:t>publica «Hexagonal Architecture» (HaT Technical Report 2005.02)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7673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900" b="0" i="1">
                <a:solidFill>
                  <a:srgbClr val="5F6368"/>
                </a:solidFill>
              </a:rPr>
              <a:t>Cockburn (2005)</a:t>
            </a:r>
          </a:p>
        </p:txBody>
      </p:sp>
      <p:sp>
        <p:nvSpPr>
          <p:cNvPr id="15" name="Hexagon 14"/>
          <p:cNvSpPr/>
          <p:nvPr/>
        </p:nvSpPr>
        <p:spPr>
          <a:xfrm>
            <a:off x="5715000" y="1783080"/>
            <a:ext cx="777240" cy="676198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32120" y="1856231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2008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97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50" b="1" i="0">
                <a:solidFill>
                  <a:srgbClr val="7A2FBF"/>
                </a:solidFill>
              </a:rPr>
              <a:t>Jeffrey Palermo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9923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2B2B33"/>
                </a:solidFill>
              </a:rPr>
              <a:t>propone la Onion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7673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900" b="0" i="1">
                <a:solidFill>
                  <a:srgbClr val="5F6368"/>
                </a:solidFill>
              </a:rPr>
              <a:t>Chakray (2025)</a:t>
            </a:r>
          </a:p>
        </p:txBody>
      </p:sp>
      <p:sp>
        <p:nvSpPr>
          <p:cNvPr id="20" name="Hexagon 19"/>
          <p:cNvSpPr/>
          <p:nvPr/>
        </p:nvSpPr>
        <p:spPr>
          <a:xfrm>
            <a:off x="7955279" y="1783080"/>
            <a:ext cx="777240" cy="676198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0" y="1856231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697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50" b="1" i="0">
                <a:solidFill>
                  <a:srgbClr val="7A2FBF"/>
                </a:solidFill>
              </a:rPr>
              <a:t>Netflix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99923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2B2B33"/>
                </a:solidFill>
              </a:rPr>
              <a:t>publica su experiencia con hexagonal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7673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900" b="0" i="1">
                <a:solidFill>
                  <a:srgbClr val="5F6368"/>
                </a:solidFill>
              </a:rPr>
              <a:t>Svrtan y Makagon (2020)</a:t>
            </a:r>
          </a:p>
        </p:txBody>
      </p:sp>
      <p:sp>
        <p:nvSpPr>
          <p:cNvPr id="25" name="Hexagon 24"/>
          <p:cNvSpPr/>
          <p:nvPr/>
        </p:nvSpPr>
        <p:spPr>
          <a:xfrm>
            <a:off x="10195560" y="1783080"/>
            <a:ext cx="777240" cy="676198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12680" y="1856231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6974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250" b="1" i="0">
                <a:solidFill>
                  <a:srgbClr val="7A2FBF"/>
                </a:solidFill>
              </a:rPr>
              <a:t>Cockburn y Garrido de Paz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99923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100" b="0" i="0">
                <a:solidFill>
                  <a:srgbClr val="2B2B33"/>
                </a:solidFill>
              </a:rPr>
              <a:t>publican el libro Hexagonal Architecture Explained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7673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900" b="0" i="1">
                <a:solidFill>
                  <a:srgbClr val="5F6368"/>
                </a:solidFill>
              </a:rPr>
              <a:t>Goodreads (2025)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20624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50" b="1" i="0">
                <a:solidFill>
                  <a:srgbClr val="7A2FBF"/>
                </a:solidFill>
              </a:rPr>
              <a:t>Patrones relacionados que cita Cockburn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20624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0" i="0">
                <a:solidFill>
                  <a:srgbClr val="2B2B33"/>
                </a:solidFill>
              </a:rPr>
              <a:t>Adapter (Gamma et al.) · Model-View-Controller y sus variantes · Mock Objects y Loopback · Pedestal (Rubel) · Checks (Cunningham) · inyección de dependencias (Fowler) y el principio de inversión de dependencias</a:t>
            </a:r>
          </a:p>
        </p:txBody>
      </p:sp>
      <p:sp>
        <p:nvSpPr>
          <p:cNvPr id="33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Cockburn (2005); Chakray (2025); Svrtan y Makagon (2020); Goodreads (2025), ficha del libro.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CASOS REALES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Casos donde se ha usado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1920240"/>
          </a:xfrm>
          <a:prstGeom prst="roundRect">
            <a:avLst>
              <a:gd name="adj" fmla="val 6666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713232" y="1536192"/>
            <a:ext cx="566928" cy="49322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499616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Netflix</a:t>
            </a:r>
          </a:p>
          <a:p>
            <a:pPr algn="l"/>
            <a:r>
              <a:rPr lang="es-ES" sz="1200" b="0" i="0">
                <a:solidFill>
                  <a:srgbClr val="7A2FBF"/>
                </a:solidFill>
              </a:rPr>
              <a:t>Studio Workflows ·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50" b="0" i="0">
                <a:solidFill>
                  <a:srgbClr val="2B2B33"/>
                </a:solidFill>
              </a:rPr>
              <a:t>Aplicación de los estudios que integra datos de muchos sistemas (gRPC, JSON API, GraphQL). Pasó las lecturas de un JSON API a GraphQL </a:t>
            </a:r>
            <a:r>
              <a:rPr lang="es-ES" sz="1150" b="1" i="0">
                <a:solidFill>
                  <a:srgbClr val="2B2B33"/>
                </a:solidFill>
              </a:rPr>
              <a:t>en dos horas</a:t>
            </a:r>
            <a:r>
              <a:rPr lang="es-ES" sz="1150" b="0" i="0">
                <a:solidFill>
                  <a:srgbClr val="2B2B33"/>
                </a:solidFill>
              </a:rPr>
              <a:t>, con un cambio de configuración.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Svrtan y Makagon (2020), Netflix TechBlog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86400" cy="1920240"/>
          </a:xfrm>
          <a:prstGeom prst="roundRect">
            <a:avLst>
              <a:gd name="adj" fmla="val 6666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0" name="Hexagon 9"/>
          <p:cNvSpPr/>
          <p:nvPr/>
        </p:nvSpPr>
        <p:spPr>
          <a:xfrm>
            <a:off x="6336792" y="1536192"/>
            <a:ext cx="566928" cy="49322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499616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Jamf</a:t>
            </a:r>
          </a:p>
          <a:p>
            <a:pPr algn="l"/>
            <a:r>
              <a:rPr lang="es-ES" sz="1200" b="0" i="0">
                <a:solidFill>
                  <a:srgbClr val="7A2FBF"/>
                </a:solidFill>
              </a:rPr>
              <a:t>Microservicio de dispositivos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084832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50" b="0" i="0">
                <a:solidFill>
                  <a:srgbClr val="2B2B33"/>
                </a:solidFill>
              </a:rPr>
              <a:t>Servicio en Java y Spring Boot que modela dispositivos móviles y de escritorio. Hace cumplir la regla de dependencias con pruebas ArchUnit; reporta </a:t>
            </a:r>
            <a:r>
              <a:rPr lang="es-ES" sz="1150" b="1" i="0">
                <a:solidFill>
                  <a:srgbClr val="2B2B33"/>
                </a:solidFill>
              </a:rPr>
              <a:t>menos conflictos de merge</a:t>
            </a:r>
            <a:r>
              <a:rPr lang="es-ES" sz="1150" b="0" i="0">
                <a:solidFill>
                  <a:srgbClr val="2B2B33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01752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Maxina (2024), Jamf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9000"/>
            <a:ext cx="5486400" cy="1920240"/>
          </a:xfrm>
          <a:prstGeom prst="roundRect">
            <a:avLst>
              <a:gd name="adj" fmla="val 6666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5" name="Hexagon 14"/>
          <p:cNvSpPr/>
          <p:nvPr/>
        </p:nvSpPr>
        <p:spPr>
          <a:xfrm>
            <a:off x="713232" y="3593592"/>
            <a:ext cx="566928" cy="49322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3557016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AWS</a:t>
            </a:r>
          </a:p>
          <a:p>
            <a:pPr algn="l"/>
            <a:r>
              <a:rPr lang="es-ES" sz="1200" b="0" i="0">
                <a:solidFill>
                  <a:srgbClr val="7A2FBF"/>
                </a:solidFill>
              </a:rPr>
              <a:t>Lambda + DynamoDB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50" b="0" i="0">
                <a:solidFill>
                  <a:srgbClr val="2B2B33"/>
                </a:solidFill>
              </a:rPr>
              <a:t>Ejemplo de reservas: el modelo de dominio sin dependencias, un puerto de entrada, un adaptador de DynamoDB y el handler de Lambda como adaptador primario.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7492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AWS (s. f.); repositorio aws-samples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29000"/>
            <a:ext cx="5486400" cy="1920240"/>
          </a:xfrm>
          <a:prstGeom prst="roundRect">
            <a:avLst>
              <a:gd name="adj" fmla="val 6666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6336792" y="3593592"/>
            <a:ext cx="566928" cy="493227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36576" rIns="0" bIns="36576" rtlCol="0" anchor="ctr"/>
          <a:lstStyle/>
          <a:p>
            <a:pPr algn="ctr"/>
            <a:r>
              <a:rPr lang="es-ES" sz="14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557016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Cockburn</a:t>
            </a:r>
          </a:p>
          <a:p>
            <a:pPr algn="l"/>
            <a:r>
              <a:rPr lang="es-ES" sz="1200" b="0" i="0">
                <a:solidFill>
                  <a:srgbClr val="7A2FBF"/>
                </a:solidFill>
              </a:rPr>
              <a:t>Sistema de alertas meteorológicas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42232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150" b="0" i="0">
                <a:solidFill>
                  <a:srgbClr val="2B2B33"/>
                </a:solidFill>
              </a:rPr>
              <a:t>Al reorganizar las interfaces por propósito y no por tecnología, se agregaron un canal HTTP y notificaciones por correo, y cada parte pudo correr sola.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07492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ES" sz="950" b="0" i="1">
                <a:solidFill>
                  <a:srgbClr val="5F6368"/>
                </a:solidFill>
              </a:rPr>
              <a:t>Cockburn (2005), «Known Use»</a:t>
            </a:r>
          </a:p>
        </p:txBody>
      </p:sp>
      <p:sp>
        <p:nvSpPr>
          <p:cNvPr id="24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Svrtan y Makagon (2020); Maxina (2024); AWS (s. f.); Cockburn (2005).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SVRTAN Y MAKAGON (2020)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Netflix: el caso en detalle</a:t>
            </a:r>
          </a:p>
        </p:txBody>
      </p:sp>
      <p:sp>
        <p:nvSpPr>
          <p:cNvPr id="4" name="Hexagon 3"/>
          <p:cNvSpPr/>
          <p:nvPr/>
        </p:nvSpPr>
        <p:spPr>
          <a:xfrm>
            <a:off x="3611880" y="1417320"/>
            <a:ext cx="3977639" cy="3429000"/>
          </a:xfrm>
          <a:prstGeom prst="hexagon">
            <a:avLst/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4526280" y="2240280"/>
            <a:ext cx="2148840" cy="1783080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Entities</a:t>
            </a:r>
          </a:p>
          <a:p>
            <a:pPr algn="ctr"/>
            <a:r>
              <a:rPr lang="es-ES" sz="1100" b="0" i="0">
                <a:solidFill>
                  <a:srgbClr val="FFFFFF"/>
                </a:solidFill>
              </a:rPr>
              <a:t>entidades del dominio, como una película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69164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00" b="1" i="0">
                <a:solidFill>
                  <a:srgbClr val="7A2FBF"/>
                </a:solidFill>
              </a:rPr>
              <a:t>Interactors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69164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36576" rIns="18288" bIns="36576" rtlCol="0" anchor="ctr"/>
          <a:lstStyle/>
          <a:p>
            <a:pPr algn="ctr"/>
            <a:r>
              <a:rPr lang="es-ES" sz="1100" b="1" i="0">
                <a:solidFill>
                  <a:srgbClr val="D6006F"/>
                </a:solidFill>
              </a:rPr>
              <a:t>Repositories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Transport layer</a:t>
            </a:r>
          </a:p>
          <a:p>
            <a:pPr algn="ctr"/>
            <a:r>
              <a:rPr lang="es-ES" sz="1100" b="0" i="0">
                <a:solidFill>
                  <a:srgbClr val="2B2B33"/>
                </a:solidFill>
              </a:rPr>
              <a:t>entradas que disparan los casos de uso: controladores HTTP, eventos, tareas programadas, línea de comandos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7832" y="3063240"/>
            <a:ext cx="658368" cy="0"/>
          </a:xfrm>
          <a:prstGeom prst="line">
            <a:avLst/>
          </a:prstGeom>
          <a:ln w="28575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0" y="201168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Data sources</a:t>
            </a:r>
          </a:p>
          <a:p>
            <a:pPr algn="ctr"/>
            <a:r>
              <a:rPr lang="es-ES" sz="1100" b="0" i="0">
                <a:solidFill>
                  <a:srgbClr val="2B2B33"/>
                </a:solidFill>
              </a:rPr>
              <a:t>adaptadores que implementan los repositorios: SQL, Elasticsearch, REST, GraphQL, incluso un archivo CSV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7406640" y="3063240"/>
            <a:ext cx="795528" cy="0"/>
          </a:xfrm>
          <a:prstGeom prst="line">
            <a:avLst/>
          </a:prstGeom>
          <a:ln w="28575">
            <a:solidFill>
              <a:srgbClr val="D600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4572000"/>
            <a:ext cx="6675120" cy="868680"/>
          </a:xfrm>
          <a:prstGeom prst="roundRect">
            <a:avLst>
              <a:gd name="adj" fmla="val 14736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6217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lang="es-ES" sz="1150" b="0" i="1">
                <a:solidFill>
                  <a:srgbClr val="FFFFFF"/>
                </a:solidFill>
              </a:rPr>
              <a:t>“We managed to transfer reads from a JSON API to a GraphQL data source within 2 hours.”</a:t>
            </a:r>
          </a:p>
          <a:p>
            <a:pPr algn="l">
              <a:spcAft>
                <a:spcPts val="200"/>
              </a:spcAft>
            </a:pPr>
            <a:r>
              <a:rPr lang="es-ES" sz="1150" b="0" i="1">
                <a:solidFill>
                  <a:srgbClr val="FFFFFF"/>
                </a:solidFill>
              </a:rPr>
              <a:t>Pasamos las lecturas de un JSON API a una fuente GraphQL en dos horas (trad. propia).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572000"/>
            <a:ext cx="4251960" cy="868680"/>
          </a:xfrm>
          <a:prstGeom prst="roundRect">
            <a:avLst>
              <a:gd name="adj" fmla="val 12631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lang="es-ES" sz="1150" b="1" i="0">
                <a:solidFill>
                  <a:srgbClr val="2B2B33"/>
                </a:solidFill>
              </a:rPr>
              <a:t>~3 000 pruebas en 100 segundos</a:t>
            </a:r>
            <a:r>
              <a:rPr lang="es-ES" sz="1150" b="0" i="0">
                <a:solidFill>
                  <a:srgbClr val="2B2B33"/>
                </a:solidFill>
              </a:rPr>
              <a:t>, concentradas en los interactors</a:t>
            </a:r>
          </a:p>
        </p:txBody>
      </p:sp>
      <p:sp>
        <p:nvSpPr>
          <p:cNvPr id="15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Svrtan, D. y Makagon, S. (2020). Ready for changes with Hexagonal Architecture. Netflix TechBlog. Diagrama: elaboración propia.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AWS PRESCRIPTIVE GUIDANCE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Ejemplo de AWS: reservas con Lambda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691640" cy="1097280"/>
          </a:xfrm>
          <a:prstGeom prst="roundRect">
            <a:avLst>
              <a:gd name="adj" fmla="val 10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Amazon API Gateway</a:t>
            </a:r>
          </a:p>
          <a:p>
            <a:pPr algn="ctr"/>
            <a:r>
              <a:rPr lang="es-ES" sz="1100" b="0" i="0">
                <a:solidFill>
                  <a:srgbClr val="2B2B33"/>
                </a:solidFill>
              </a:rPr>
              <a:t>API REST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67712" y="2148840"/>
            <a:ext cx="137160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32304" y="1600200"/>
            <a:ext cx="1691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A2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7A2FBF"/>
                </a:solidFill>
              </a:rPr>
              <a:t>Handler de Lambda</a:t>
            </a:r>
          </a:p>
          <a:p>
            <a:pPr algn="ctr"/>
            <a:r>
              <a:rPr lang="es-ES" sz="1100" b="0" i="0">
                <a:solidFill>
                  <a:srgbClr val="7A2FBF"/>
                </a:solidFill>
              </a:rPr>
              <a:t>adaptador primario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51376" y="2148840"/>
            <a:ext cx="137160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15968" y="1600200"/>
            <a:ext cx="1691640" cy="1097280"/>
          </a:xfrm>
          <a:prstGeom prst="roundRect">
            <a:avLst>
              <a:gd name="adj" fmla="val 10000"/>
            </a:avLst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RecipientInputPort</a:t>
            </a:r>
          </a:p>
          <a:p>
            <a:pPr algn="ctr"/>
            <a:r>
              <a:rPr lang="es-ES" sz="1100" b="0" i="0">
                <a:solidFill>
                  <a:srgbClr val="FFFFFF"/>
                </a:solidFill>
              </a:rPr>
              <a:t>puerto de entrada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148840"/>
            <a:ext cx="137160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Hexagon 9"/>
          <p:cNvSpPr/>
          <p:nvPr/>
        </p:nvSpPr>
        <p:spPr>
          <a:xfrm>
            <a:off x="6199631" y="1600200"/>
            <a:ext cx="1691640" cy="1097280"/>
          </a:xfrm>
          <a:prstGeom prst="hexagon">
            <a:avLst/>
          </a:prstGeom>
          <a:solidFill>
            <a:srgbClr val="7A2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FFFFFF"/>
                </a:solidFill>
              </a:rPr>
              <a:t>Recipient</a:t>
            </a:r>
          </a:p>
          <a:p>
            <a:pPr algn="ctr"/>
            <a:r>
              <a:rPr lang="es-ES" sz="1100" b="0" i="0">
                <a:solidFill>
                  <a:srgbClr val="FFFFFF"/>
                </a:solidFill>
              </a:rPr>
              <a:t>modelo de dominio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18704" y="2148840"/>
            <a:ext cx="137159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83296" y="1600200"/>
            <a:ext cx="1691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0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D6006F"/>
                </a:solidFill>
              </a:rPr>
              <a:t>DDBRecipientAdapter</a:t>
            </a:r>
          </a:p>
          <a:p>
            <a:pPr algn="ctr"/>
            <a:r>
              <a:rPr lang="es-ES" sz="1100" b="0" i="0">
                <a:solidFill>
                  <a:srgbClr val="D6006F"/>
                </a:solidFill>
              </a:rPr>
              <a:t>adaptador de salida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02367" y="2148840"/>
            <a:ext cx="137161" cy="0"/>
          </a:xfrm>
          <a:prstGeom prst="line">
            <a:avLst/>
          </a:prstGeom>
          <a:ln w="25400">
            <a:solidFill>
              <a:srgbClr val="7A2F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66960" y="1600200"/>
            <a:ext cx="1691640" cy="1097280"/>
          </a:xfrm>
          <a:prstGeom prst="roundRect">
            <a:avLst>
              <a:gd name="adj" fmla="val 10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lang="es-ES" sz="1100" b="1" i="0">
                <a:solidFill>
                  <a:srgbClr val="2B2B33"/>
                </a:solidFill>
              </a:rPr>
              <a:t>Amazon DynamoDB</a:t>
            </a:r>
          </a:p>
          <a:p>
            <a:pPr algn="ctr"/>
            <a:r>
              <a:rPr lang="es-ES" sz="1100" b="0" i="0">
                <a:solidFill>
                  <a:srgbClr val="2B2B33"/>
                </a:solidFill>
              </a:rPr>
              <a:t>tablas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1371600"/>
            <a:ext cx="5623560" cy="1554480"/>
          </a:xfrm>
          <a:prstGeom prst="roundRect">
            <a:avLst>
              <a:gd name="adj" fmla="val 7058"/>
            </a:avLst>
          </a:prstGeom>
          <a:noFill/>
          <a:ln w="15875">
            <a:solidFill>
              <a:srgbClr val="7A2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77440" y="2944368"/>
            <a:ext cx="5623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1050" b="0" i="1">
                <a:solidFill>
                  <a:srgbClr val="7A2FBF"/>
                </a:solidFill>
              </a:rPr>
              <a:t>dentro de la función Lambda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8328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29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00" b="1" i="0">
                <a:solidFill>
                  <a:srgbClr val="2B2B33"/>
                </a:solidFill>
              </a:rPr>
              <a:t>Dominio sin dependencias</a:t>
            </a:r>
          </a:p>
          <a:p>
            <a:pPr algn="l"/>
            <a:r>
              <a:rPr lang="es-ES" sz="1100" b="1" i="0">
                <a:solidFill>
                  <a:srgbClr val="7A2FBF"/>
                </a:solidFill>
              </a:rPr>
              <a:t>Recipient</a:t>
            </a:r>
            <a:r>
              <a:rPr lang="es-ES" sz="1100" b="0" i="0">
                <a:solidFill>
                  <a:srgbClr val="2B2B33"/>
                </a:solidFill>
              </a:rPr>
              <a:t> aplica reglas como no solapar fechas 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338328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62271" y="3429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00" b="1" i="0">
                <a:solidFill>
                  <a:srgbClr val="2B2B33"/>
                </a:solidFill>
              </a:rPr>
              <a:t>Puerto de entrada</a:t>
            </a:r>
          </a:p>
          <a:p>
            <a:pPr algn="l"/>
            <a:r>
              <a:rPr lang="es-ES" sz="1100" b="0" i="0">
                <a:solidFill>
                  <a:srgbClr val="2B2B33"/>
                </a:solidFill>
              </a:rPr>
              <a:t>recibe por interfaces sus dependencias de salida y ejecuta la lógica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38328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1" y="3429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00" b="1" i="0">
                <a:solidFill>
                  <a:srgbClr val="2B2B33"/>
                </a:solidFill>
              </a:rPr>
              <a:t>Adaptador de DynamoDB</a:t>
            </a:r>
          </a:p>
          <a:p>
            <a:pPr algn="l"/>
            <a:r>
              <a:rPr lang="es-ES" sz="1100" b="0" i="0">
                <a:solidFill>
                  <a:srgbClr val="2B2B33"/>
                </a:solidFill>
              </a:rPr>
              <a:t>implementa el acceso a las tablas con boto3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3484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4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480559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00" b="1" i="0">
                <a:solidFill>
                  <a:srgbClr val="2B2B33"/>
                </a:solidFill>
              </a:rPr>
              <a:t>Fábrica en el handler</a:t>
            </a:r>
          </a:p>
          <a:p>
            <a:pPr algn="l"/>
            <a:r>
              <a:rPr lang="es-ES" sz="1100" b="0" i="0">
                <a:solidFill>
                  <a:srgbClr val="2B2B33"/>
                </a:solidFill>
              </a:rPr>
              <a:t>construye puertos y adaptadores y delega la petición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443484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0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62271" y="4480559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100" b="1" i="0">
                <a:solidFill>
                  <a:srgbClr val="2B2B33"/>
                </a:solidFill>
              </a:rPr>
              <a:t>Pruebas unitarias</a:t>
            </a:r>
          </a:p>
          <a:p>
            <a:pPr algn="l"/>
            <a:r>
              <a:rPr lang="es-ES" sz="1100" b="0" i="0">
                <a:solidFill>
                  <a:srgbClr val="2B2B33"/>
                </a:solidFill>
              </a:rPr>
              <a:t>prueban el dominio sin aprovisionar DynamoDB</a:t>
            </a:r>
          </a:p>
        </p:txBody>
      </p:sp>
      <p:sp>
        <p:nvSpPr>
          <p:cNvPr id="27" name="Fuente"/>
          <p:cNvSpPr txBox="1"/>
          <p:nvPr/>
        </p:nvSpPr>
        <p:spPr>
          <a:xfrm>
            <a:off x="548640" y="5550408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1000" b="0" i="1">
                <a:solidFill>
                  <a:srgbClr val="5F6368"/>
                </a:solidFill>
              </a:rPr>
              <a:t>Fuente: AWS (s. f.), Patrón de arquitectura hexagonal; repositorio github.com/aws-samples/aws-lambda-domain-model-sample. Diagrama adaptado.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804672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200" b="1" i="0">
                <a:solidFill>
                  <a:srgbClr val="7A2FBF"/>
                </a:solidFill>
              </a:rPr>
              <a:t>ARQUITECTURA HEXAGONAL · FUENTES CONSULTADAS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804672" y="548640"/>
            <a:ext cx="8915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ES" sz="3600" b="0" i="0">
                <a:solidFill>
                  <a:srgbClr val="2B2B33"/>
                </a:solidFill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09960" cy="416052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Amazon Web Services. (s. f.). Patrón de arquitectura hexagonal. AWS Prescriptive Guidance. </a:t>
            </a:r>
            <a:r>
              <a:rPr sz="1000">
                <a:solidFill>
                  <a:srgbClr val="7A2FBF"/>
                </a:solidFill>
                <a:hlinkClick r:id="rId2"/>
              </a:rPr>
              <a:t>https://docs.aws.amazon.com/es_es/prescriptive-guidance/latest/cloud-design-patterns/hexagonal-architecture.html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Aranda, J. (2021, 2 de marzo). Introducción a la arquitectura hexagonal. CloudAPPi. </a:t>
            </a:r>
            <a:r>
              <a:rPr sz="1000">
                <a:solidFill>
                  <a:srgbClr val="7A2FBF"/>
                </a:solidFill>
                <a:hlinkClick r:id="rId3"/>
              </a:rPr>
              <a:t>https://cloudappi.net/introduccion-a-la-arquitectura-hexagonal/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Chakray. (2025). Arquitectura hexagonal: guía completa para un diseño de software robusto y testeable. </a:t>
            </a:r>
            <a:r>
              <a:rPr sz="1000">
                <a:solidFill>
                  <a:srgbClr val="7A2FBF"/>
                </a:solidFill>
                <a:hlinkClick r:id="rId4"/>
              </a:rPr>
              <a:t>https://chakray.com/es/arquitectura-hexagonal-guia-completa-para-un-diseno-de-software-robusto-y-testeable/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Cockburn, A. (2005). Hexagonal architecture (HaT Technical Report 2005.02). </a:t>
            </a:r>
            <a:r>
              <a:rPr sz="1000">
                <a:solidFill>
                  <a:srgbClr val="7A2FBF"/>
                </a:solidFill>
                <a:hlinkClick r:id="rId5"/>
              </a:rPr>
              <a:t>https://alistair.cockburn.us/hexagonal-architecture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Cockburn, A. y Garrido de Paz, J. M. (2025). Hexagonal Architecture Explained (ed. actualizada). Ficha en Goodreads. </a:t>
            </a:r>
            <a:r>
              <a:rPr sz="1000">
                <a:solidFill>
                  <a:srgbClr val="7A2FBF"/>
                </a:solidFill>
                <a:hlinkClick r:id="rId6"/>
              </a:rPr>
              <a:t>https://www.goodreads.com/book/show/231537868-hexagonal-architecture-explained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Maxina, L. (2024). Hexagonal architecture in software development. Jamf Engineering. </a:t>
            </a:r>
            <a:r>
              <a:rPr sz="1000">
                <a:solidFill>
                  <a:srgbClr val="7A2FBF"/>
                </a:solidFill>
                <a:hlinkClick r:id="rId7"/>
              </a:rPr>
              <a:t>https://medium.com/jamf-engineering/hexagonal-architecture-in-software-development-acb08c458f6a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Svrtan, D. y Makagon, S. (2020, 10 de marzo). Ready for changes with Hexagonal Architecture. Netflix TechBlog. </a:t>
            </a:r>
            <a:r>
              <a:rPr sz="1000">
                <a:solidFill>
                  <a:srgbClr val="7A2FBF"/>
                </a:solidFill>
                <a:hlinkClick r:id="rId8"/>
              </a:rPr>
              <a:t>https://netflixtechblog.com/ready-for-changes-with-hexagonal-architecture-b315ec967749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2B2B33"/>
                </a:solidFill>
              </a:rPr>
              <a:t>aws-samples. (s. f.). aws-lambda-domain-model-sample [repositorio de código]. GitHub. </a:t>
            </a:r>
            <a:r>
              <a:rPr sz="1000">
                <a:solidFill>
                  <a:srgbClr val="7A2FBF"/>
                </a:solidFill>
                <a:hlinkClick r:id="rId9"/>
              </a:rPr>
              <a:t>https://github.com/aws-samples/aws-lambda-domain-model-sample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2DD914-6F1E-A763-66F5-0253B3F3F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068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53E7C7-8AE5-4AED-AD03-ACF7236A778A}" type="slidenum">
              <a:rPr kumimoji="0" lang="es-CO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tint val="75000"/>
                  </a:prstClr>
                </a:solidFill>
                <a:effectLst/>
                <a:uLnTx/>
                <a:uFillTx/>
                <a:latin typeface="Arial Nova Light" panose="020B0304020202020204" pitchFamily="34" charset="0"/>
                <a:ea typeface="+mn-ea"/>
                <a:cs typeface="+mn-cs"/>
              </a:rPr>
              <a:pPr marL="0" marR="0" lvl="0" indent="0" algn="r" defTabSz="8068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s-CO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tint val="75000"/>
                </a:prstClr>
              </a:solidFill>
              <a:effectLst/>
              <a:uLnTx/>
              <a:uFillTx/>
              <a:latin typeface="Arial Nova Light" panose="020B0304020202020204" pitchFamily="34" charset="0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1C3881-3F12-9FA8-EFFC-8110F1DFE3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O"/>
              <a:t>Sede Central</a:t>
            </a:r>
            <a:r>
              <a:rPr lang="es-ES"/>
              <a:t> Medellín</a:t>
            </a:r>
            <a:endParaRPr lang="en-CO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096BA1F8-8C99-77EB-7B37-8495AE8869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448889783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. Presentación UPB 2018" id="{36F8BB01-3393-FA4D-8145-86DA81FADD61}" vid="{FB05699F-FE3A-FD40-B367-9B6900AD0EFD}"/>
    </a:ext>
  </a:extLst>
</a:theme>
</file>

<file path=ppt/theme/theme2.xml><?xml version="1.0" encoding="utf-8"?>
<a:theme xmlns:a="http://schemas.openxmlformats.org/drawingml/2006/main" name="UPB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owerpoint UPB 2024" id="{CEBC3956-D0C8-4A58-ADF8-31B9AB3F6717}" vid="{43DB4CCB-4183-4A1B-933C-13FC8EFB2C14}"/>
    </a:ext>
  </a:extLst>
</a:theme>
</file>

<file path=ppt/theme/theme3.xml><?xml version="1.0" encoding="utf-8"?>
<a:theme xmlns:a="http://schemas.openxmlformats.org/drawingml/2006/main" name="1_UPB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owerpoint UPB 2024" id="{CEBC3956-D0C8-4A58-ADF8-31B9AB3F6717}" vid="{43DB4CCB-4183-4A1B-933C-13FC8EFB2C1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1559</TotalTime>
  <Words>2849</Words>
  <Application>Microsoft Office PowerPoint</Application>
  <PresentationFormat>Panorámica</PresentationFormat>
  <Paragraphs>377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20</vt:i4>
      </vt:variant>
    </vt:vector>
  </HeadingPairs>
  <TitlesOfParts>
    <vt:vector size="32" baseType="lpstr">
      <vt:lpstr>Arial</vt:lpstr>
      <vt:lpstr>Arial Narrow</vt:lpstr>
      <vt:lpstr>Arial Nova Light</vt:lpstr>
      <vt:lpstr>Avenir Next</vt:lpstr>
      <vt:lpstr>Avenir Next Medium</vt:lpstr>
      <vt:lpstr>Calibri</vt:lpstr>
      <vt:lpstr>Flama Condensed Light</vt:lpstr>
      <vt:lpstr>Helvetica Neue Medium</vt:lpstr>
      <vt:lpstr>Vice City Sans</vt:lpstr>
      <vt:lpstr>1_Tema de Office</vt:lpstr>
      <vt:lpstr>UPB 2022</vt:lpstr>
      <vt:lpstr>1_UPB 2022</vt:lpstr>
      <vt:lpstr>Introducción a la arquitectura hexagonal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Sede Central Medellín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DDD: Domain Driven Design</dc:title>
  <dc:creator>Cesar Augusto Lopez Gallego</dc:creator>
  <cp:lastModifiedBy>Cesar Augusto Lopez Gallego</cp:lastModifiedBy>
  <cp:revision>51</cp:revision>
  <dcterms:created xsi:type="dcterms:W3CDTF">2025-03-18T15:33:38Z</dcterms:created>
  <dcterms:modified xsi:type="dcterms:W3CDTF">2026-10-14T12:49:18Z</dcterms:modified>
</cp:coreProperties>
</file>